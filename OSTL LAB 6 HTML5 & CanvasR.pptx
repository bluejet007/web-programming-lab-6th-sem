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256" r:id="rId2"/>
    <p:sldId id="257" r:id="rId3"/>
    <p:sldId id="260" r:id="rId4"/>
    <p:sldId id="261" r:id="rId5"/>
    <p:sldId id="344" r:id="rId6"/>
    <p:sldId id="345" r:id="rId7"/>
    <p:sldId id="346" r:id="rId8"/>
    <p:sldId id="347" r:id="rId9"/>
    <p:sldId id="263" r:id="rId10"/>
    <p:sldId id="267" r:id="rId11"/>
    <p:sldId id="268" r:id="rId12"/>
    <p:sldId id="342" r:id="rId13"/>
    <p:sldId id="273" r:id="rId14"/>
    <p:sldId id="284" r:id="rId15"/>
    <p:sldId id="343" r:id="rId16"/>
    <p:sldId id="286"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4"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 id="336" r:id="rId60"/>
    <p:sldId id="337" r:id="rId61"/>
    <p:sldId id="338" r:id="rId62"/>
    <p:sldId id="339" r:id="rId63"/>
    <p:sldId id="340" r:id="rId64"/>
    <p:sldId id="341" r:id="rId65"/>
    <p:sldId id="25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33CC"/>
    <a:srgbClr val="E44D26"/>
    <a:srgbClr val="E94F27"/>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01" autoAdjust="0"/>
  </p:normalViewPr>
  <p:slideViewPr>
    <p:cSldViewPr snapToGrid="0">
      <p:cViewPr varScale="1">
        <p:scale>
          <a:sx n="54" d="100"/>
          <a:sy n="54" d="100"/>
        </p:scale>
        <p:origin x="112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presProps" Target="presProps.xml" /><Relationship Id="rId7" Type="http://schemas.openxmlformats.org/officeDocument/2006/relationships/slide" Target="slides/slide6.xml" /><Relationship Id="rId71"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viewProps" Target="viewProps.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notesMaster" Target="notesMasters/notesMaster1.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880FF-419E-4A99-9430-ED8F472A7266}"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CCA5E5-48CB-4C22-B8A3-E76DE4D52AB6}" type="slidenum">
              <a:rPr lang="en-US" smtClean="0"/>
              <a:t>‹#›</a:t>
            </a:fld>
            <a:endParaRPr lang="en-US"/>
          </a:p>
        </p:txBody>
      </p:sp>
    </p:spTree>
    <p:extLst>
      <p:ext uri="{BB962C8B-B14F-4D97-AF65-F5344CB8AC3E}">
        <p14:creationId xmlns:p14="http://schemas.microsoft.com/office/powerpoint/2010/main" val="3338294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code</a:t>
            </a:r>
          </a:p>
        </p:txBody>
      </p:sp>
      <p:sp>
        <p:nvSpPr>
          <p:cNvPr id="4" name="Slide Number Placeholder 3"/>
          <p:cNvSpPr>
            <a:spLocks noGrp="1"/>
          </p:cNvSpPr>
          <p:nvPr>
            <p:ph type="sldNum" sz="quarter" idx="10"/>
          </p:nvPr>
        </p:nvSpPr>
        <p:spPr/>
        <p:txBody>
          <a:bodyPr/>
          <a:lstStyle/>
          <a:p>
            <a:fld id="{D4CCA5E5-48CB-4C22-B8A3-E76DE4D52AB6}" type="slidenum">
              <a:rPr lang="en-US" smtClean="0"/>
              <a:t>27</a:t>
            </a:fld>
            <a:endParaRPr lang="en-US"/>
          </a:p>
        </p:txBody>
      </p:sp>
    </p:spTree>
    <p:extLst>
      <p:ext uri="{BB962C8B-B14F-4D97-AF65-F5344CB8AC3E}">
        <p14:creationId xmlns:p14="http://schemas.microsoft.com/office/powerpoint/2010/main" val="3904669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7DAE80D-E4B5-4930-A8BF-C1DAF91D6D46}"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064257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pic>
        <p:nvPicPr>
          <p:cNvPr id="7" name="Picture 2" descr="HTML5 - Wikipedia"/>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9296" y="93277"/>
            <a:ext cx="543695" cy="543695"/>
          </a:xfrm>
          <a:prstGeom prst="rect">
            <a:avLst/>
          </a:prstGeom>
          <a:noFill/>
          <a:ln>
            <a:solidFill>
              <a:srgbClr val="E44D26"/>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085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BA969D5-AF64-4834-AF5D-F77320D34190}"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36101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FDC4F7-0DAD-4F7E-BB70-058B71DDCE56}" type="datetime1">
              <a:rPr lang="en-US" smtClean="0"/>
              <a:t>1/5/2026</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561149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28CC96-D23F-4A08-999F-3667EA9749A3}" type="datetime1">
              <a:rPr lang="en-US" smtClean="0"/>
              <a:t>1/5/2026</a:t>
            </a:fld>
            <a:endParaRPr lang="en-US"/>
          </a:p>
        </p:txBody>
      </p:sp>
      <p:sp>
        <p:nvSpPr>
          <p:cNvPr id="8" name="Footer Placeholder 7"/>
          <p:cNvSpPr>
            <a:spLocks noGrp="1"/>
          </p:cNvSpPr>
          <p:nvPr>
            <p:ph type="ftr" sz="quarter" idx="11"/>
          </p:nvPr>
        </p:nvSpPr>
        <p:spPr/>
        <p:txBody>
          <a:bodyPr/>
          <a:lstStyle/>
          <a:p>
            <a:r>
              <a:rPr lang="en-US"/>
              <a:t>OSTL - HTML5 and Canvas</a:t>
            </a:r>
          </a:p>
        </p:txBody>
      </p:sp>
      <p:sp>
        <p:nvSpPr>
          <p:cNvPr id="9" name="Slide Number Placeholder 8"/>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95602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46A9CF-BA63-4224-BBD5-E1A1FFDC5865}" type="datetime1">
              <a:rPr lang="en-US" smtClean="0"/>
              <a:t>1/5/2026</a:t>
            </a:fld>
            <a:endParaRPr lang="en-US"/>
          </a:p>
        </p:txBody>
      </p:sp>
      <p:sp>
        <p:nvSpPr>
          <p:cNvPr id="4" name="Footer Placeholder 3"/>
          <p:cNvSpPr>
            <a:spLocks noGrp="1"/>
          </p:cNvSpPr>
          <p:nvPr>
            <p:ph type="ftr" sz="quarter" idx="11"/>
          </p:nvPr>
        </p:nvSpPr>
        <p:spPr/>
        <p:txBody>
          <a:bodyPr/>
          <a:lstStyle/>
          <a:p>
            <a:r>
              <a:rPr lang="en-US"/>
              <a:t>OSTL - HTML5 and Canvas</a:t>
            </a:r>
          </a:p>
        </p:txBody>
      </p:sp>
      <p:sp>
        <p:nvSpPr>
          <p:cNvPr id="5" name="Slide Number Placeholder 4"/>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70206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6EEA-6A80-46F5-8207-84E407EA2C77}" type="datetime1">
              <a:rPr lang="en-US" smtClean="0"/>
              <a:t>1/5/2026</a:t>
            </a:fld>
            <a:endParaRPr lang="en-US"/>
          </a:p>
        </p:txBody>
      </p:sp>
      <p:sp>
        <p:nvSpPr>
          <p:cNvPr id="3" name="Footer Placeholder 2"/>
          <p:cNvSpPr>
            <a:spLocks noGrp="1"/>
          </p:cNvSpPr>
          <p:nvPr>
            <p:ph type="ftr" sz="quarter" idx="11"/>
          </p:nvPr>
        </p:nvSpPr>
        <p:spPr/>
        <p:txBody>
          <a:bodyPr/>
          <a:lstStyle/>
          <a:p>
            <a:r>
              <a:rPr lang="en-US"/>
              <a:t>OSTL - HTML5 and Canvas</a:t>
            </a:r>
          </a:p>
        </p:txBody>
      </p:sp>
      <p:sp>
        <p:nvSpPr>
          <p:cNvPr id="4" name="Slide Number Placeholder 3"/>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3371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2786B-B672-47BC-9C9F-F81AE7DEA2F2}" type="datetime1">
              <a:rPr lang="en-US" smtClean="0"/>
              <a:t>1/5/2026</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578388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0A6FF4F-EE0C-401D-8E0A-8320357DAEE8}" type="datetime1">
              <a:rPr lang="en-US" smtClean="0"/>
              <a:t>1/5/2026</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0795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ECE80E-3C0C-44AC-83CD-4586C88C4B33}"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6320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9F5170-77B7-4D44-AB7F-CF35B2F3763A}"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7535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7BFD76-0048-4CC7-838B-2055A988E2CA}" type="datetime1">
              <a:rPr lang="en-US" smtClean="0"/>
              <a:t>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OSTL - HTML5 and Canvas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C7DC13-78C1-42AC-B2C1-B0BA7E4EE52B}" type="slidenum">
              <a:rPr lang="en-US" smtClean="0"/>
              <a:t>‹#›</a:t>
            </a:fld>
            <a:endParaRPr lang="en-US"/>
          </a:p>
        </p:txBody>
      </p:sp>
      <p:pic>
        <p:nvPicPr>
          <p:cNvPr id="7" name="Picture 6"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970950" y="45064"/>
            <a:ext cx="5183488" cy="689032"/>
          </a:xfrm>
          <a:prstGeom prst="rect">
            <a:avLst/>
          </a:prstGeom>
        </p:spPr>
      </p:pic>
    </p:spTree>
    <p:extLst>
      <p:ext uri="{BB962C8B-B14F-4D97-AF65-F5344CB8AC3E}">
        <p14:creationId xmlns:p14="http://schemas.microsoft.com/office/powerpoint/2010/main" val="2789474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4.emf"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5.emf"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7.emf" /><Relationship Id="rId2" Type="http://schemas.openxmlformats.org/officeDocument/2006/relationships/image" Target="../media/image6.emf"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9.emf" /><Relationship Id="rId2" Type="http://schemas.openxmlformats.org/officeDocument/2006/relationships/image" Target="../media/image8.emf"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0.emf"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1.emf"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ML5 - Wikipe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3695" y="1787381"/>
            <a:ext cx="2629189" cy="2629189"/>
          </a:xfrm>
          <a:prstGeom prst="rect">
            <a:avLst/>
          </a:prstGeom>
          <a:noFill/>
          <a:ln>
            <a:solidFill>
              <a:srgbClr val="E44D26"/>
            </a:solidFill>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1673" y="4729594"/>
            <a:ext cx="11693235" cy="523220"/>
          </a:xfrm>
          <a:prstGeom prst="rect">
            <a:avLst/>
          </a:prstGeom>
          <a:noFill/>
        </p:spPr>
        <p:txBody>
          <a:bodyPr wrap="square" rtlCol="0">
            <a:spAutoFit/>
          </a:bodyPr>
          <a:lstStyle/>
          <a:p>
            <a:pPr algn="ctr"/>
            <a:r>
              <a:rPr lang="en-US" sz="2800" dirty="0">
                <a:effectLst>
                  <a:outerShdw blurRad="38100" dist="38100" dir="2700000" algn="tl">
                    <a:srgbClr val="000000">
                      <a:alpha val="43137"/>
                    </a:srgbClr>
                  </a:outerShdw>
                </a:effectLst>
                <a:latin typeface="Lucida Sans Typewriter" panose="020B0509030504030204" pitchFamily="49" charset="0"/>
              </a:rPr>
              <a:t>Open source Technologies Lab</a:t>
            </a:r>
          </a:p>
        </p:txBody>
      </p:sp>
    </p:spTree>
    <p:extLst>
      <p:ext uri="{BB962C8B-B14F-4D97-AF65-F5344CB8AC3E}">
        <p14:creationId xmlns:p14="http://schemas.microsoft.com/office/powerpoint/2010/main" val="413102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 Overview</a:t>
            </a:r>
            <a:endParaRPr lang="en-US" dirty="0"/>
          </a:p>
        </p:txBody>
      </p:sp>
      <p:sp>
        <p:nvSpPr>
          <p:cNvPr id="3" name="Content Placeholder 2"/>
          <p:cNvSpPr>
            <a:spLocks noGrp="1"/>
          </p:cNvSpPr>
          <p:nvPr>
            <p:ph idx="1"/>
          </p:nvPr>
        </p:nvSpPr>
        <p:spPr>
          <a:xfrm>
            <a:off x="838200" y="1520814"/>
            <a:ext cx="10515600" cy="4835535"/>
          </a:xfrm>
        </p:spPr>
        <p:txBody>
          <a:bodyPr>
            <a:normAutofit/>
          </a:bodyPr>
          <a:lstStyle/>
          <a:p>
            <a:pPr algn="just">
              <a:lnSpc>
                <a:spcPct val="150000"/>
              </a:lnSpc>
            </a:pPr>
            <a:r>
              <a:rPr lang="en-US" sz="2400" dirty="0"/>
              <a:t>HTML5 is the next major revision of the HTML standard superseding HTML 4.01, XHTML 1.0, and XHTML 1.1. HTML5 is a standard for structuring and presenting content on the World Wide Web.</a:t>
            </a:r>
          </a:p>
          <a:p>
            <a:pPr algn="just">
              <a:lnSpc>
                <a:spcPct val="150000"/>
              </a:lnSpc>
            </a:pPr>
            <a:r>
              <a:rPr lang="en-US" sz="2400" dirty="0"/>
              <a:t>HTML5 is a cooperation between the World Wide Web Consortium (W3C) and the Web Hypertext Application Technology Working Group (WHATWG).</a:t>
            </a:r>
          </a:p>
          <a:p>
            <a:pPr algn="just">
              <a:lnSpc>
                <a:spcPct val="150000"/>
              </a:lnSpc>
            </a:pPr>
            <a:r>
              <a:rPr lang="en-US" sz="2400" dirty="0"/>
              <a:t>The new standard incorporates features like video playback and drag-and-drop that have been previously dependent on third-party browser plug-ins such as Adobe Flash, Microsoft Silverlight, and Google Gears.</a:t>
            </a:r>
          </a:p>
        </p:txBody>
      </p:sp>
      <p:sp>
        <p:nvSpPr>
          <p:cNvPr id="4" name="Date Placeholder 3"/>
          <p:cNvSpPr>
            <a:spLocks noGrp="1"/>
          </p:cNvSpPr>
          <p:nvPr>
            <p:ph type="dt" sz="half" idx="10"/>
          </p:nvPr>
        </p:nvSpPr>
        <p:spPr/>
        <p:txBody>
          <a:bodyPr/>
          <a:lstStyle/>
          <a:p>
            <a:fld id="{53660E76-5423-499E-84C6-ED98D6C61F23}"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a:t>
            </a:fld>
            <a:endParaRPr lang="en-US"/>
          </a:p>
        </p:txBody>
      </p:sp>
    </p:spTree>
    <p:extLst>
      <p:ext uri="{BB962C8B-B14F-4D97-AF65-F5344CB8AC3E}">
        <p14:creationId xmlns:p14="http://schemas.microsoft.com/office/powerpoint/2010/main" val="249543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New Features</a:t>
            </a:r>
            <a:endParaRPr lang="en-US" dirty="0"/>
          </a:p>
        </p:txBody>
      </p:sp>
      <p:sp>
        <p:nvSpPr>
          <p:cNvPr id="3" name="Content Placeholder 2"/>
          <p:cNvSpPr>
            <a:spLocks noGrp="1"/>
          </p:cNvSpPr>
          <p:nvPr>
            <p:ph idx="1"/>
          </p:nvPr>
        </p:nvSpPr>
        <p:spPr>
          <a:xfrm>
            <a:off x="838200" y="1368415"/>
            <a:ext cx="10515600" cy="4946370"/>
          </a:xfrm>
        </p:spPr>
        <p:txBody>
          <a:bodyPr>
            <a:noAutofit/>
          </a:bodyPr>
          <a:lstStyle/>
          <a:p>
            <a:pPr marL="0" indent="0" algn="just">
              <a:buNone/>
            </a:pPr>
            <a:r>
              <a:rPr lang="en-US" sz="2000" dirty="0"/>
              <a:t>HTML5 introduces a number of new elements and attributes that can help you in building modern websites. Here is a set of some of the most prominent features introduced in HTML5.</a:t>
            </a:r>
          </a:p>
          <a:p>
            <a:pPr algn="just"/>
            <a:r>
              <a:rPr lang="en-US" sz="1900" b="1" dirty="0"/>
              <a:t>New Semantic Elements: </a:t>
            </a:r>
            <a:r>
              <a:rPr lang="en-US" sz="1900" dirty="0"/>
              <a:t>These are like </a:t>
            </a:r>
            <a:r>
              <a:rPr lang="en-US" sz="1900" dirty="0">
                <a:effectLst>
                  <a:outerShdw blurRad="38100" dist="38100" dir="2700000" algn="tl">
                    <a:srgbClr val="000000">
                      <a:alpha val="43137"/>
                    </a:srgbClr>
                  </a:outerShdw>
                </a:effectLst>
              </a:rPr>
              <a:t>&lt;header&gt;</a:t>
            </a:r>
            <a:r>
              <a:rPr lang="en-US" sz="1900" dirty="0"/>
              <a:t>, </a:t>
            </a:r>
            <a:r>
              <a:rPr lang="en-US" sz="1900" dirty="0">
                <a:effectLst>
                  <a:outerShdw blurRad="38100" dist="38100" dir="2700000" algn="tl">
                    <a:srgbClr val="000000">
                      <a:alpha val="43137"/>
                    </a:srgbClr>
                  </a:outerShdw>
                </a:effectLst>
              </a:rPr>
              <a:t>&lt;footer&gt;</a:t>
            </a:r>
            <a:r>
              <a:rPr lang="en-US" sz="1900" dirty="0"/>
              <a:t>, and </a:t>
            </a:r>
            <a:r>
              <a:rPr lang="en-US" sz="1900" dirty="0">
                <a:effectLst>
                  <a:outerShdw blurRad="38100" dist="38100" dir="2700000" algn="tl">
                    <a:srgbClr val="000000">
                      <a:alpha val="43137"/>
                    </a:srgbClr>
                  </a:outerShdw>
                </a:effectLst>
              </a:rPr>
              <a:t>&lt;section&gt;</a:t>
            </a:r>
            <a:r>
              <a:rPr lang="en-US" sz="1900" dirty="0"/>
              <a:t>. </a:t>
            </a:r>
          </a:p>
          <a:p>
            <a:pPr algn="just"/>
            <a:r>
              <a:rPr lang="en-US" sz="1900" b="1" dirty="0"/>
              <a:t>Forms 2.0: </a:t>
            </a:r>
            <a:r>
              <a:rPr lang="en-US" sz="1900" dirty="0"/>
              <a:t>Improvements to HTML web forms where new attributes have been introduced for </a:t>
            </a:r>
            <a:r>
              <a:rPr lang="en-US" sz="1900" dirty="0">
                <a:effectLst>
                  <a:outerShdw blurRad="38100" dist="38100" dir="2700000" algn="tl">
                    <a:srgbClr val="000000">
                      <a:alpha val="43137"/>
                    </a:srgbClr>
                  </a:outerShdw>
                </a:effectLst>
              </a:rPr>
              <a:t>&lt;input&gt;</a:t>
            </a:r>
            <a:r>
              <a:rPr lang="en-US" sz="1900" dirty="0"/>
              <a:t> tag.</a:t>
            </a:r>
          </a:p>
          <a:p>
            <a:pPr algn="just"/>
            <a:r>
              <a:rPr lang="en-US" sz="1900" b="1" dirty="0"/>
              <a:t>Canvas: </a:t>
            </a:r>
            <a:r>
              <a:rPr lang="en-US" sz="1900" dirty="0"/>
              <a:t>This supports a two-dimensional drawing surface that you can program with JavaScript.</a:t>
            </a:r>
          </a:p>
          <a:p>
            <a:pPr algn="just"/>
            <a:r>
              <a:rPr lang="en-US" sz="1900" b="1" dirty="0"/>
              <a:t>Audio &amp; Video: </a:t>
            </a:r>
            <a:r>
              <a:rPr lang="en-US" sz="1900" dirty="0"/>
              <a:t>You can embed audio or video on your webpages without resorting to third-party plugins.</a:t>
            </a:r>
          </a:p>
          <a:p>
            <a:pPr algn="just"/>
            <a:r>
              <a:rPr lang="en-US" sz="1900" b="1" dirty="0" err="1"/>
              <a:t>WebSocket</a:t>
            </a:r>
            <a:r>
              <a:rPr lang="en-US" sz="1900" b="1" dirty="0"/>
              <a:t> : </a:t>
            </a:r>
            <a:r>
              <a:rPr lang="en-US" sz="1900" dirty="0"/>
              <a:t>A next-generation bidirectional communication technology for web applications.</a:t>
            </a:r>
          </a:p>
          <a:p>
            <a:pPr algn="just"/>
            <a:r>
              <a:rPr lang="en-US" sz="1900" b="1" dirty="0"/>
              <a:t>Server-Sent Events: </a:t>
            </a:r>
            <a:r>
              <a:rPr lang="en-US" sz="1900" dirty="0"/>
              <a:t>HTML5 introduces events which flow from web server to the web browsers and they are called Server-Sent Events (SSE).</a:t>
            </a:r>
          </a:p>
          <a:p>
            <a:pPr algn="just"/>
            <a:r>
              <a:rPr lang="en-US" sz="1900" b="1" dirty="0"/>
              <a:t>Geolocation: </a:t>
            </a:r>
            <a:r>
              <a:rPr lang="en-US" sz="1900" dirty="0"/>
              <a:t>Now visitors can choose to share their physical location with your web application.</a:t>
            </a:r>
          </a:p>
          <a:p>
            <a:pPr algn="just"/>
            <a:r>
              <a:rPr lang="en-US" sz="1900" b="1" dirty="0"/>
              <a:t>Microdata: </a:t>
            </a:r>
            <a:r>
              <a:rPr lang="en-US" sz="1900" dirty="0"/>
              <a:t>This lets you create your own vocabularies beyond HTML5 and extend your web pages with custom semantics.</a:t>
            </a:r>
          </a:p>
          <a:p>
            <a:pPr algn="just"/>
            <a:r>
              <a:rPr lang="en-US" sz="1900" b="1" dirty="0"/>
              <a:t>Drag and drop: </a:t>
            </a:r>
            <a:r>
              <a:rPr lang="en-US" sz="1900" dirty="0"/>
              <a:t>Drag and drop the items from one location to another location on the same webpage.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a:t>
            </a:fld>
            <a:endParaRPr lang="en-US"/>
          </a:p>
        </p:txBody>
      </p:sp>
    </p:spTree>
    <p:extLst>
      <p:ext uri="{BB962C8B-B14F-4D97-AF65-F5344CB8AC3E}">
        <p14:creationId xmlns:p14="http://schemas.microsoft.com/office/powerpoint/2010/main" val="2757771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Backward Compatibility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HTML5 is designed, as much as possible, to be backward compatible with existing web browsers. Its new features have been built on existing features and allow you to provide fallback content for older browsers.</a:t>
            </a:r>
          </a:p>
          <a:p>
            <a:pPr algn="just">
              <a:lnSpc>
                <a:spcPct val="150000"/>
              </a:lnSpc>
            </a:pPr>
            <a:r>
              <a:rPr lang="en-US" dirty="0"/>
              <a:t>It is suggested to detect support for individual HTML5 features using a few lines of JavaScript.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a:t>
            </a:fld>
            <a:endParaRPr lang="en-US"/>
          </a:p>
        </p:txBody>
      </p:sp>
    </p:spTree>
    <p:extLst>
      <p:ext uri="{BB962C8B-B14F-4D97-AF65-F5344CB8AC3E}">
        <p14:creationId xmlns:p14="http://schemas.microsoft.com/office/powerpoint/2010/main" val="3625339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DOCTYPE</a:t>
            </a:r>
          </a:p>
          <a:p>
            <a:pPr algn="just"/>
            <a:r>
              <a:rPr lang="en-US" dirty="0"/>
              <a:t>DOCTYPEs in older versions of HTML were longer because the HTML language was SGML based and therefore required a reference to a DTD.</a:t>
            </a:r>
          </a:p>
          <a:p>
            <a:pPr algn="just"/>
            <a:r>
              <a:rPr lang="en-US" dirty="0"/>
              <a:t>HTML 5 authors would use simple syntax to specify DOCTYPE as follows:</a:t>
            </a:r>
          </a:p>
          <a:p>
            <a:pPr algn="just"/>
            <a:endParaRPr lang="en-US" dirty="0"/>
          </a:p>
          <a:p>
            <a:pPr algn="just"/>
            <a:endParaRPr lang="en-US" dirty="0"/>
          </a:p>
          <a:p>
            <a:pPr algn="just"/>
            <a:r>
              <a:rPr lang="en-US" dirty="0"/>
              <a:t>The above syntax is case-insensitive.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a:t>
            </a:fld>
            <a:endParaRPr lang="en-US"/>
          </a:p>
        </p:txBody>
      </p:sp>
      <p:pic>
        <p:nvPicPr>
          <p:cNvPr id="7" name="Picture 6"/>
          <p:cNvPicPr>
            <a:picLocks noChangeAspect="1"/>
          </p:cNvPicPr>
          <p:nvPr/>
        </p:nvPicPr>
        <p:blipFill>
          <a:blip r:embed="rId2"/>
          <a:stretch>
            <a:fillRect/>
          </a:stretch>
        </p:blipFill>
        <p:spPr>
          <a:xfrm>
            <a:off x="1168035" y="4643079"/>
            <a:ext cx="10185765" cy="688338"/>
          </a:xfrm>
          <a:prstGeom prst="rect">
            <a:avLst/>
          </a:prstGeom>
        </p:spPr>
      </p:pic>
    </p:spTree>
    <p:extLst>
      <p:ext uri="{BB962C8B-B14F-4D97-AF65-F5344CB8AC3E}">
        <p14:creationId xmlns:p14="http://schemas.microsoft.com/office/powerpoint/2010/main" val="2619360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Character Encoding</a:t>
            </a:r>
          </a:p>
          <a:p>
            <a:pPr algn="just"/>
            <a:r>
              <a:rPr lang="en-US" dirty="0"/>
              <a:t>HTML 5 authors can use simple syntax to specify Character Encoding as follows:</a:t>
            </a:r>
          </a:p>
          <a:p>
            <a:pPr algn="just"/>
            <a:endParaRPr lang="en-US" dirty="0"/>
          </a:p>
          <a:p>
            <a:pPr algn="just"/>
            <a:endParaRPr lang="en-US" dirty="0"/>
          </a:p>
          <a:p>
            <a:pPr algn="just"/>
            <a:r>
              <a:rPr lang="en-US" dirty="0"/>
              <a:t>The above syntax is case-insensitive.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a:t>
            </a:fld>
            <a:endParaRPr lang="en-US"/>
          </a:p>
        </p:txBody>
      </p:sp>
      <p:pic>
        <p:nvPicPr>
          <p:cNvPr id="8" name="Picture 7"/>
          <p:cNvPicPr>
            <a:picLocks noChangeAspect="1"/>
          </p:cNvPicPr>
          <p:nvPr/>
        </p:nvPicPr>
        <p:blipFill>
          <a:blip r:embed="rId2"/>
          <a:stretch>
            <a:fillRect/>
          </a:stretch>
        </p:blipFill>
        <p:spPr>
          <a:xfrm>
            <a:off x="1168035" y="3360562"/>
            <a:ext cx="10141988" cy="622501"/>
          </a:xfrm>
          <a:prstGeom prst="rect">
            <a:avLst/>
          </a:prstGeom>
        </p:spPr>
      </p:pic>
    </p:spTree>
    <p:extLst>
      <p:ext uri="{BB962C8B-B14F-4D97-AF65-F5344CB8AC3E}">
        <p14:creationId xmlns:p14="http://schemas.microsoft.com/office/powerpoint/2010/main" val="8341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&lt;script&gt; tag</a:t>
            </a:r>
          </a:p>
          <a:p>
            <a:pPr algn="just"/>
            <a:r>
              <a:rPr lang="en-US" dirty="0"/>
              <a:t>It's common practice to add a type attribute with a value of "text/</a:t>
            </a:r>
            <a:r>
              <a:rPr lang="en-US" dirty="0" err="1"/>
              <a:t>javascript</a:t>
            </a:r>
            <a:r>
              <a:rPr lang="en-US" dirty="0"/>
              <a:t>" to script elements as follows</a:t>
            </a:r>
          </a:p>
          <a:p>
            <a:pPr algn="just"/>
            <a:endParaRPr lang="en-US" dirty="0"/>
          </a:p>
          <a:p>
            <a:pPr algn="just"/>
            <a:endParaRPr lang="en-US" dirty="0"/>
          </a:p>
          <a:p>
            <a:pPr algn="just"/>
            <a:r>
              <a:rPr lang="en-US" dirty="0"/>
              <a:t>HTML 5 removes extra information required and you can use simply following syntax</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7</a:t>
            </a:fld>
            <a:endParaRPr lang="en-US"/>
          </a:p>
        </p:txBody>
      </p:sp>
      <p:pic>
        <p:nvPicPr>
          <p:cNvPr id="7" name="Picture 6"/>
          <p:cNvPicPr>
            <a:picLocks noChangeAspect="1"/>
          </p:cNvPicPr>
          <p:nvPr/>
        </p:nvPicPr>
        <p:blipFill>
          <a:blip r:embed="rId2"/>
          <a:stretch>
            <a:fillRect/>
          </a:stretch>
        </p:blipFill>
        <p:spPr>
          <a:xfrm>
            <a:off x="838199" y="3294231"/>
            <a:ext cx="10453103" cy="626840"/>
          </a:xfrm>
          <a:prstGeom prst="rect">
            <a:avLst/>
          </a:prstGeom>
        </p:spPr>
      </p:pic>
      <p:pic>
        <p:nvPicPr>
          <p:cNvPr id="9" name="Picture 8"/>
          <p:cNvPicPr>
            <a:picLocks noChangeAspect="1"/>
          </p:cNvPicPr>
          <p:nvPr/>
        </p:nvPicPr>
        <p:blipFill>
          <a:blip r:embed="rId3"/>
          <a:stretch>
            <a:fillRect/>
          </a:stretch>
        </p:blipFill>
        <p:spPr>
          <a:xfrm>
            <a:off x="838198" y="5171191"/>
            <a:ext cx="10336079" cy="631517"/>
          </a:xfrm>
          <a:prstGeom prst="rect">
            <a:avLst/>
          </a:prstGeom>
        </p:spPr>
      </p:pic>
    </p:spTree>
    <p:extLst>
      <p:ext uri="{BB962C8B-B14F-4D97-AF65-F5344CB8AC3E}">
        <p14:creationId xmlns:p14="http://schemas.microsoft.com/office/powerpoint/2010/main" val="3664159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&lt;link&gt; tag</a:t>
            </a:r>
          </a:p>
          <a:p>
            <a:pPr algn="just"/>
            <a:r>
              <a:rPr lang="en-US" dirty="0"/>
              <a:t>So far you were writing &lt;link&gt; as follows</a:t>
            </a:r>
          </a:p>
          <a:p>
            <a:pPr algn="just"/>
            <a:endParaRPr lang="en-US" dirty="0"/>
          </a:p>
          <a:p>
            <a:pPr algn="just"/>
            <a:endParaRPr lang="en-US" dirty="0"/>
          </a:p>
          <a:p>
            <a:pPr algn="just"/>
            <a:r>
              <a:rPr lang="en-US" dirty="0"/>
              <a:t>HTML 5 removes extra information required and you can simply use the following syntax</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8</a:t>
            </a:fld>
            <a:endParaRPr lang="en-US"/>
          </a:p>
        </p:txBody>
      </p:sp>
      <p:pic>
        <p:nvPicPr>
          <p:cNvPr id="8" name="Picture 7"/>
          <p:cNvPicPr>
            <a:picLocks noChangeAspect="1"/>
          </p:cNvPicPr>
          <p:nvPr/>
        </p:nvPicPr>
        <p:blipFill>
          <a:blip r:embed="rId2"/>
          <a:stretch>
            <a:fillRect/>
          </a:stretch>
        </p:blipFill>
        <p:spPr>
          <a:xfrm>
            <a:off x="838200" y="3000122"/>
            <a:ext cx="10305081" cy="620798"/>
          </a:xfrm>
          <a:prstGeom prst="rect">
            <a:avLst/>
          </a:prstGeom>
        </p:spPr>
      </p:pic>
      <p:pic>
        <p:nvPicPr>
          <p:cNvPr id="10" name="Picture 9"/>
          <p:cNvPicPr>
            <a:picLocks noChangeAspect="1"/>
          </p:cNvPicPr>
          <p:nvPr/>
        </p:nvPicPr>
        <p:blipFill>
          <a:blip r:embed="rId3"/>
          <a:stretch>
            <a:fillRect/>
          </a:stretch>
        </p:blipFill>
        <p:spPr>
          <a:xfrm>
            <a:off x="838200" y="5032375"/>
            <a:ext cx="10305081" cy="620798"/>
          </a:xfrm>
          <a:prstGeom prst="rect">
            <a:avLst/>
          </a:prstGeom>
        </p:spPr>
      </p:pic>
    </p:spTree>
    <p:extLst>
      <p:ext uri="{BB962C8B-B14F-4D97-AF65-F5344CB8AC3E}">
        <p14:creationId xmlns:p14="http://schemas.microsoft.com/office/powerpoint/2010/main" val="1453415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Elements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effectLst>
                  <a:outerShdw blurRad="38100" dist="38100" dir="2700000" algn="tl">
                    <a:srgbClr val="000000">
                      <a:alpha val="43137"/>
                    </a:srgbClr>
                  </a:outerShdw>
                </a:effectLst>
              </a:rPr>
              <a:t>HTML5</a:t>
            </a:r>
            <a:r>
              <a:rPr lang="en-US" dirty="0"/>
              <a:t> elements are marked up using </a:t>
            </a:r>
            <a:r>
              <a:rPr lang="en-US" dirty="0">
                <a:solidFill>
                  <a:srgbClr val="FF0000"/>
                </a:solidFill>
                <a:effectLst>
                  <a:outerShdw blurRad="38100" dist="38100" dir="2700000" algn="tl">
                    <a:srgbClr val="000000">
                      <a:alpha val="43137"/>
                    </a:srgbClr>
                  </a:outerShdw>
                </a:effectLst>
              </a:rPr>
              <a:t>start</a:t>
            </a:r>
            <a:r>
              <a:rPr lang="en-US" dirty="0"/>
              <a:t> tags and </a:t>
            </a:r>
            <a:r>
              <a:rPr lang="en-US" dirty="0">
                <a:solidFill>
                  <a:srgbClr val="FF0000"/>
                </a:solidFill>
                <a:effectLst>
                  <a:outerShdw blurRad="38100" dist="38100" dir="2700000" algn="tl">
                    <a:srgbClr val="000000">
                      <a:alpha val="43137"/>
                    </a:srgbClr>
                  </a:outerShdw>
                </a:effectLst>
              </a:rPr>
              <a:t>end</a:t>
            </a:r>
            <a:r>
              <a:rPr lang="en-US" dirty="0"/>
              <a:t> tags. Tags are delimited using </a:t>
            </a:r>
            <a:r>
              <a:rPr lang="en-US" dirty="0">
                <a:solidFill>
                  <a:srgbClr val="FF0000"/>
                </a:solidFill>
                <a:effectLst>
                  <a:outerShdw blurRad="38100" dist="38100" dir="2700000" algn="tl">
                    <a:srgbClr val="000000">
                      <a:alpha val="43137"/>
                    </a:srgbClr>
                  </a:outerShdw>
                </a:effectLst>
              </a:rPr>
              <a:t>angle brackets </a:t>
            </a:r>
            <a:r>
              <a:rPr lang="en-US" dirty="0"/>
              <a:t>with the tag name in between.</a:t>
            </a:r>
          </a:p>
          <a:p>
            <a:pPr algn="just"/>
            <a:r>
              <a:rPr lang="en-US" dirty="0"/>
              <a:t>The difference between </a:t>
            </a:r>
            <a:r>
              <a:rPr lang="en-US" dirty="0">
                <a:effectLst>
                  <a:outerShdw blurRad="38100" dist="38100" dir="2700000" algn="tl">
                    <a:srgbClr val="000000">
                      <a:alpha val="43137"/>
                    </a:srgbClr>
                  </a:outerShdw>
                </a:effectLst>
              </a:rPr>
              <a:t>start</a:t>
            </a:r>
            <a:r>
              <a:rPr lang="en-US" dirty="0"/>
              <a:t> tags and end tags is that the latter includes a slash before the tag name.</a:t>
            </a:r>
          </a:p>
          <a:p>
            <a:pPr algn="just"/>
            <a:r>
              <a:rPr lang="en-US" dirty="0"/>
              <a:t>Following is the example of an HTML5 element </a:t>
            </a:r>
          </a:p>
          <a:p>
            <a:pPr algn="just"/>
            <a:endParaRPr lang="en-US" dirty="0"/>
          </a:p>
          <a:p>
            <a:pPr algn="just"/>
            <a:endParaRPr lang="en-US" dirty="0"/>
          </a:p>
          <a:p>
            <a:pPr algn="just"/>
            <a:r>
              <a:rPr lang="en-US" dirty="0"/>
              <a:t>HTML5 tag names are </a:t>
            </a:r>
            <a:r>
              <a:rPr lang="en-US" dirty="0">
                <a:solidFill>
                  <a:srgbClr val="FF0000"/>
                </a:solidFill>
                <a:effectLst>
                  <a:outerShdw blurRad="38100" dist="38100" dir="2700000" algn="tl">
                    <a:srgbClr val="000000">
                      <a:alpha val="43137"/>
                    </a:srgbClr>
                  </a:outerShdw>
                </a:effectLst>
              </a:rPr>
              <a:t>case insensitive </a:t>
            </a:r>
            <a:r>
              <a:rPr lang="en-US" dirty="0"/>
              <a:t>and may be written in all uppercase or mixed case, although the most common convention is to stick with lowercase.</a:t>
            </a:r>
          </a:p>
          <a:p>
            <a:pPr algn="just"/>
            <a:r>
              <a:rPr lang="en-US" dirty="0"/>
              <a:t>Most of the elements contain some content like </a:t>
            </a:r>
            <a:r>
              <a:rPr lang="en-US" dirty="0">
                <a:effectLst>
                  <a:outerShdw blurRad="38100" dist="38100" dir="2700000" algn="tl">
                    <a:srgbClr val="000000">
                      <a:alpha val="43137"/>
                    </a:srgbClr>
                  </a:outerShdw>
                </a:effectLst>
              </a:rPr>
              <a:t>&lt;p&gt;...&lt;/p&gt; </a:t>
            </a:r>
            <a:r>
              <a:rPr lang="en-US" dirty="0"/>
              <a:t>contains a paragraph. Some elements, however, are forbidden from containing any content at all and these are known as void elements. For example, </a:t>
            </a:r>
            <a:r>
              <a:rPr lang="en-US" b="1" dirty="0" err="1"/>
              <a:t>br</a:t>
            </a:r>
            <a:r>
              <a:rPr lang="en-US" dirty="0"/>
              <a:t>, </a:t>
            </a:r>
            <a:r>
              <a:rPr lang="en-US" b="1" dirty="0" err="1"/>
              <a:t>hr</a:t>
            </a:r>
            <a:r>
              <a:rPr lang="en-US" dirty="0"/>
              <a:t>, </a:t>
            </a:r>
            <a:r>
              <a:rPr lang="en-US" b="1" dirty="0"/>
              <a:t>link</a:t>
            </a:r>
            <a:r>
              <a:rPr lang="en-US" dirty="0"/>
              <a:t>, </a:t>
            </a:r>
            <a:r>
              <a:rPr lang="en-US" b="1" dirty="0"/>
              <a:t>meta</a:t>
            </a:r>
            <a:r>
              <a:rPr lang="en-US" dirty="0"/>
              <a:t>, etc.</a:t>
            </a:r>
          </a:p>
          <a:p>
            <a:r>
              <a:rPr lang="en-US" dirty="0"/>
              <a:t>A complete list of HTML5 Elements </a:t>
            </a:r>
            <a:r>
              <a:rPr lang="en-US" dirty="0">
                <a:solidFill>
                  <a:srgbClr val="FF0000"/>
                </a:solidFill>
              </a:rPr>
              <a:t>(https://www.tutorialspoint.com/html5/html5_tags.htm)</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9</a:t>
            </a:fld>
            <a:endParaRPr lang="en-US"/>
          </a:p>
        </p:txBody>
      </p:sp>
      <p:pic>
        <p:nvPicPr>
          <p:cNvPr id="7" name="Picture 6"/>
          <p:cNvPicPr>
            <a:picLocks noChangeAspect="1"/>
          </p:cNvPicPr>
          <p:nvPr/>
        </p:nvPicPr>
        <p:blipFill>
          <a:blip r:embed="rId2"/>
          <a:stretch>
            <a:fillRect/>
          </a:stretch>
        </p:blipFill>
        <p:spPr>
          <a:xfrm>
            <a:off x="1118471" y="3404065"/>
            <a:ext cx="10303250" cy="656491"/>
          </a:xfrm>
          <a:prstGeom prst="rect">
            <a:avLst/>
          </a:prstGeom>
        </p:spPr>
      </p:pic>
    </p:spTree>
    <p:extLst>
      <p:ext uri="{BB962C8B-B14F-4D97-AF65-F5344CB8AC3E}">
        <p14:creationId xmlns:p14="http://schemas.microsoft.com/office/powerpoint/2010/main" val="1222014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Attributes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Elements may contain </a:t>
            </a:r>
            <a:r>
              <a:rPr lang="en-US" dirty="0">
                <a:effectLst>
                  <a:outerShdw blurRad="38100" dist="38100" dir="2700000" algn="tl">
                    <a:srgbClr val="000000">
                      <a:alpha val="43137"/>
                    </a:srgbClr>
                  </a:outerShdw>
                </a:effectLst>
              </a:rPr>
              <a:t>attributes</a:t>
            </a:r>
            <a:r>
              <a:rPr lang="en-US" dirty="0"/>
              <a:t> that are used to set various properties of an element.</a:t>
            </a:r>
          </a:p>
          <a:p>
            <a:pPr algn="just"/>
            <a:r>
              <a:rPr lang="en-US" dirty="0"/>
              <a:t>Some attributes are defined globally and can be used on any element, while others are defined for specific elements only. All attributes have a name and a value and look like as shown below in the example.</a:t>
            </a:r>
          </a:p>
          <a:p>
            <a:pPr algn="just"/>
            <a:r>
              <a:rPr lang="en-US" dirty="0"/>
              <a:t>Following is the example of an HTML5 attribute which illustrates how to mark up a </a:t>
            </a:r>
            <a:r>
              <a:rPr lang="en-US" b="1" dirty="0"/>
              <a:t>div </a:t>
            </a:r>
            <a:r>
              <a:rPr lang="en-US" dirty="0"/>
              <a:t>element with an attribute named class using a value of "example" </a:t>
            </a:r>
          </a:p>
          <a:p>
            <a:pPr algn="just"/>
            <a:endParaRPr lang="en-US" dirty="0"/>
          </a:p>
          <a:p>
            <a:pPr algn="just"/>
            <a:endParaRPr lang="en-US" dirty="0"/>
          </a:p>
          <a:p>
            <a:pPr algn="just"/>
            <a:r>
              <a:rPr lang="en-US" dirty="0"/>
              <a:t>Attributes may only be specified within start tags and must never be used in end tags.</a:t>
            </a:r>
          </a:p>
          <a:p>
            <a:pPr algn="just"/>
            <a:r>
              <a:rPr lang="en-US" dirty="0"/>
              <a:t>HTML5 attributes are case insensitive and may be written in all uppercase or mixed case, although the most common convention is to stick with lowercase.</a:t>
            </a:r>
          </a:p>
          <a:p>
            <a:r>
              <a:rPr lang="en-US" dirty="0"/>
              <a:t>Here is a complete list of HTML5 Attributes </a:t>
            </a:r>
            <a:r>
              <a:rPr lang="en-US" dirty="0">
                <a:solidFill>
                  <a:srgbClr val="FF0000"/>
                </a:solidFill>
              </a:rPr>
              <a:t>(https://www.tutorialspoint.com/html5/html5_attributes.htm)</a:t>
            </a:r>
            <a:r>
              <a:rPr lang="en-US" dirty="0"/>
              <a: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10</a:t>
            </a:fld>
            <a:endParaRPr lang="en-US"/>
          </a:p>
        </p:txBody>
      </p:sp>
      <p:pic>
        <p:nvPicPr>
          <p:cNvPr id="7" name="Picture 6"/>
          <p:cNvPicPr>
            <a:picLocks noChangeAspect="1"/>
          </p:cNvPicPr>
          <p:nvPr/>
        </p:nvPicPr>
        <p:blipFill>
          <a:blip r:embed="rId2"/>
          <a:stretch>
            <a:fillRect/>
          </a:stretch>
        </p:blipFill>
        <p:spPr>
          <a:xfrm>
            <a:off x="1139536" y="3613367"/>
            <a:ext cx="10084825" cy="571175"/>
          </a:xfrm>
          <a:prstGeom prst="rect">
            <a:avLst/>
          </a:prstGeom>
        </p:spPr>
      </p:pic>
    </p:spTree>
    <p:extLst>
      <p:ext uri="{BB962C8B-B14F-4D97-AF65-F5344CB8AC3E}">
        <p14:creationId xmlns:p14="http://schemas.microsoft.com/office/powerpoint/2010/main" val="3765701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Document</a:t>
            </a:r>
            <a:endParaRPr lang="en-US" dirty="0"/>
          </a:p>
        </p:txBody>
      </p:sp>
      <p:sp>
        <p:nvSpPr>
          <p:cNvPr id="3" name="Content Placeholder 2"/>
          <p:cNvSpPr>
            <a:spLocks noGrp="1"/>
          </p:cNvSpPr>
          <p:nvPr>
            <p:ph idx="1"/>
          </p:nvPr>
        </p:nvSpPr>
        <p:spPr>
          <a:xfrm>
            <a:off x="838200" y="1360210"/>
            <a:ext cx="10515600" cy="4918650"/>
          </a:xfrm>
        </p:spPr>
        <p:txBody>
          <a:bodyPr>
            <a:noAutofit/>
          </a:bodyPr>
          <a:lstStyle/>
          <a:p>
            <a:pPr marL="0" indent="0" algn="just">
              <a:lnSpc>
                <a:spcPct val="100000"/>
              </a:lnSpc>
              <a:spcBef>
                <a:spcPts val="300"/>
              </a:spcBef>
              <a:spcAft>
                <a:spcPts val="300"/>
              </a:spcAft>
              <a:buNone/>
            </a:pPr>
            <a:r>
              <a:rPr lang="en-US" sz="2100" dirty="0"/>
              <a:t>The following tags have been introduced for better structure −</a:t>
            </a:r>
          </a:p>
          <a:p>
            <a:pPr algn="just">
              <a:lnSpc>
                <a:spcPct val="100000"/>
              </a:lnSpc>
              <a:spcBef>
                <a:spcPts val="300"/>
              </a:spcBef>
              <a:spcAft>
                <a:spcPts val="300"/>
              </a:spcAft>
            </a:pPr>
            <a:r>
              <a:rPr lang="en-US" sz="2100" b="1" dirty="0"/>
              <a:t>section: </a:t>
            </a:r>
            <a:r>
              <a:rPr lang="en-US" sz="2100" dirty="0"/>
              <a:t>This tag represents a generic document or application section. It can be used together with h1-h6 to indicate the document structure.</a:t>
            </a:r>
          </a:p>
          <a:p>
            <a:pPr algn="just">
              <a:lnSpc>
                <a:spcPct val="100000"/>
              </a:lnSpc>
              <a:spcBef>
                <a:spcPts val="300"/>
              </a:spcBef>
              <a:spcAft>
                <a:spcPts val="300"/>
              </a:spcAft>
            </a:pPr>
            <a:r>
              <a:rPr lang="en-US" sz="2100" b="1" dirty="0"/>
              <a:t>article: </a:t>
            </a:r>
            <a:r>
              <a:rPr lang="en-US" sz="2100" dirty="0"/>
              <a:t>This tag represents an independent piece of content of a document, such as a blog entry or newspaper article.</a:t>
            </a:r>
          </a:p>
          <a:p>
            <a:pPr algn="just">
              <a:lnSpc>
                <a:spcPct val="100000"/>
              </a:lnSpc>
              <a:spcBef>
                <a:spcPts val="300"/>
              </a:spcBef>
              <a:spcAft>
                <a:spcPts val="300"/>
              </a:spcAft>
            </a:pPr>
            <a:r>
              <a:rPr lang="en-US" sz="2100" b="1" dirty="0"/>
              <a:t>aside: </a:t>
            </a:r>
            <a:r>
              <a:rPr lang="en-US" sz="2100" dirty="0"/>
              <a:t>This tag represents a piece of content that is only slightly related to the rest of the page.</a:t>
            </a:r>
          </a:p>
          <a:p>
            <a:pPr algn="just">
              <a:lnSpc>
                <a:spcPct val="100000"/>
              </a:lnSpc>
              <a:spcBef>
                <a:spcPts val="300"/>
              </a:spcBef>
              <a:spcAft>
                <a:spcPts val="300"/>
              </a:spcAft>
            </a:pPr>
            <a:r>
              <a:rPr lang="en-US" sz="2100" b="1" dirty="0"/>
              <a:t>header: </a:t>
            </a:r>
            <a:r>
              <a:rPr lang="en-US" sz="2100" dirty="0"/>
              <a:t>This tag represents the header of a section.</a:t>
            </a:r>
          </a:p>
          <a:p>
            <a:pPr algn="just">
              <a:lnSpc>
                <a:spcPct val="100000"/>
              </a:lnSpc>
              <a:spcBef>
                <a:spcPts val="300"/>
              </a:spcBef>
              <a:spcAft>
                <a:spcPts val="300"/>
              </a:spcAft>
            </a:pPr>
            <a:r>
              <a:rPr lang="en-US" sz="2100" b="1" dirty="0"/>
              <a:t>footer: </a:t>
            </a:r>
            <a:r>
              <a:rPr lang="en-US" sz="2100" dirty="0"/>
              <a:t>This tag represents a footer for a section and can contain information about the author, copyright information, etcetera.</a:t>
            </a:r>
          </a:p>
          <a:p>
            <a:pPr algn="just">
              <a:lnSpc>
                <a:spcPct val="100000"/>
              </a:lnSpc>
              <a:spcBef>
                <a:spcPts val="300"/>
              </a:spcBef>
              <a:spcAft>
                <a:spcPts val="300"/>
              </a:spcAft>
            </a:pPr>
            <a:r>
              <a:rPr lang="en-US" sz="2100" b="1" dirty="0" err="1"/>
              <a:t>nav</a:t>
            </a:r>
            <a:r>
              <a:rPr lang="en-US" sz="2100" b="1" dirty="0"/>
              <a:t>: </a:t>
            </a:r>
            <a:r>
              <a:rPr lang="en-US" sz="2100" dirty="0"/>
              <a:t>This tag represents a section of the document intended for navigation.</a:t>
            </a:r>
          </a:p>
          <a:p>
            <a:pPr algn="just">
              <a:lnSpc>
                <a:spcPct val="100000"/>
              </a:lnSpc>
              <a:spcBef>
                <a:spcPts val="300"/>
              </a:spcBef>
              <a:spcAft>
                <a:spcPts val="300"/>
              </a:spcAft>
            </a:pPr>
            <a:r>
              <a:rPr lang="en-US" sz="2100" b="1" dirty="0"/>
              <a:t>dialog: </a:t>
            </a:r>
            <a:r>
              <a:rPr lang="en-US" sz="2100" dirty="0"/>
              <a:t>This tag can be used to mark up a conversation.</a:t>
            </a:r>
          </a:p>
          <a:p>
            <a:pPr algn="just">
              <a:lnSpc>
                <a:spcPct val="100000"/>
              </a:lnSpc>
              <a:spcBef>
                <a:spcPts val="300"/>
              </a:spcBef>
              <a:spcAft>
                <a:spcPts val="300"/>
              </a:spcAft>
            </a:pPr>
            <a:r>
              <a:rPr lang="en-US" sz="2100" b="1" dirty="0"/>
              <a:t>figure: </a:t>
            </a:r>
            <a:r>
              <a:rPr lang="en-US" sz="2100" dirty="0"/>
              <a:t>This tag can be used to associate a caption together with some embedded content, such as a graphic or video.</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dirty="0"/>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11</a:t>
            </a:fld>
            <a:endParaRPr lang="en-US"/>
          </a:p>
        </p:txBody>
      </p:sp>
    </p:spTree>
    <p:extLst>
      <p:ext uri="{BB962C8B-B14F-4D97-AF65-F5344CB8AC3E}">
        <p14:creationId xmlns:p14="http://schemas.microsoft.com/office/powerpoint/2010/main" val="3600513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Document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12</a:t>
            </a:fld>
            <a:endParaRPr lang="en-US"/>
          </a:p>
        </p:txBody>
      </p:sp>
      <p:pic>
        <p:nvPicPr>
          <p:cNvPr id="10" name="Picture 9"/>
          <p:cNvPicPr>
            <a:picLocks noChangeAspect="1"/>
          </p:cNvPicPr>
          <p:nvPr/>
        </p:nvPicPr>
        <p:blipFill>
          <a:blip r:embed="rId2"/>
          <a:stretch>
            <a:fillRect/>
          </a:stretch>
        </p:blipFill>
        <p:spPr>
          <a:xfrm>
            <a:off x="7785315" y="739623"/>
            <a:ext cx="3807417" cy="5616727"/>
          </a:xfrm>
          <a:prstGeom prst="rect">
            <a:avLst/>
          </a:prstGeom>
        </p:spPr>
      </p:pic>
      <p:sp>
        <p:nvSpPr>
          <p:cNvPr id="12" name="Rectangle 11"/>
          <p:cNvSpPr/>
          <p:nvPr/>
        </p:nvSpPr>
        <p:spPr>
          <a:xfrm>
            <a:off x="838200" y="1690688"/>
            <a:ext cx="6291020" cy="175432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t>There is no concept of validation in HTML5; because HTML5 is not defined as SGML or XML application.</a:t>
            </a:r>
          </a:p>
        </p:txBody>
      </p:sp>
      <p:grpSp>
        <p:nvGrpSpPr>
          <p:cNvPr id="15" name="Group 14"/>
          <p:cNvGrpSpPr/>
          <p:nvPr/>
        </p:nvGrpSpPr>
        <p:grpSpPr>
          <a:xfrm>
            <a:off x="1163666" y="3321030"/>
            <a:ext cx="6190853" cy="3139258"/>
            <a:chOff x="1163666" y="3321030"/>
            <a:chExt cx="6190853" cy="3139258"/>
          </a:xfrm>
        </p:grpSpPr>
        <p:pic>
          <p:nvPicPr>
            <p:cNvPr id="13"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6002" r="77343" b="9497"/>
            <a:stretch/>
          </p:blipFill>
          <p:spPr bwMode="auto">
            <a:xfrm>
              <a:off x="1163666" y="3367524"/>
              <a:ext cx="2106478" cy="309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9049"/>
            <a:stretch/>
          </p:blipFill>
          <p:spPr bwMode="auto">
            <a:xfrm>
              <a:off x="4137401" y="3321030"/>
              <a:ext cx="3217118" cy="309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283055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Forms 2.0</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Web Forms 2.0 is an extension to the forms features found in HTML4.</a:t>
            </a:r>
          </a:p>
          <a:p>
            <a:pPr algn="just">
              <a:lnSpc>
                <a:spcPct val="150000"/>
              </a:lnSpc>
            </a:pPr>
            <a:r>
              <a:rPr lang="en-US" dirty="0"/>
              <a:t>Form </a:t>
            </a:r>
            <a:r>
              <a:rPr lang="en-US"/>
              <a:t>elements and attributes </a:t>
            </a:r>
            <a:r>
              <a:rPr lang="en-US" dirty="0"/>
              <a:t>in HTML5 provide a greater degree of semantic mark-up than HTML4 and free us from a great deal of tedious scripting and styling that was required in HTML4.</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13</a:t>
            </a:fld>
            <a:endParaRPr lang="en-US"/>
          </a:p>
        </p:txBody>
      </p:sp>
    </p:spTree>
    <p:extLst>
      <p:ext uri="{BB962C8B-B14F-4D97-AF65-F5344CB8AC3E}">
        <p14:creationId xmlns:p14="http://schemas.microsoft.com/office/powerpoint/2010/main" val="242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 Canvas</a:t>
            </a:r>
            <a:endParaRPr lang="en-US" dirty="0"/>
          </a:p>
        </p:txBody>
      </p:sp>
      <p:sp>
        <p:nvSpPr>
          <p:cNvPr id="3" name="Content Placeholder 2"/>
          <p:cNvSpPr>
            <a:spLocks noGrp="1"/>
          </p:cNvSpPr>
          <p:nvPr>
            <p:ph idx="1"/>
          </p:nvPr>
        </p:nvSpPr>
        <p:spPr/>
        <p:txBody>
          <a:bodyPr/>
          <a:lstStyle/>
          <a:p>
            <a:pPr algn="just">
              <a:lnSpc>
                <a:spcPct val="150000"/>
              </a:lnSpc>
            </a:pPr>
            <a:r>
              <a:rPr lang="en-US" dirty="0"/>
              <a:t>HTML5 element </a:t>
            </a:r>
            <a:r>
              <a:rPr lang="en-US" dirty="0">
                <a:solidFill>
                  <a:srgbClr val="FF0000"/>
                </a:solidFill>
                <a:effectLst>
                  <a:outerShdw blurRad="38100" dist="38100" dir="2700000" algn="tl">
                    <a:srgbClr val="000000">
                      <a:alpha val="43137"/>
                    </a:srgbClr>
                  </a:outerShdw>
                </a:effectLst>
              </a:rPr>
              <a:t>&lt;canvas&gt; </a:t>
            </a:r>
            <a:r>
              <a:rPr lang="en-US" dirty="0"/>
              <a:t>gives you an easy and powerful way to draw graphics using JavaScript. </a:t>
            </a:r>
          </a:p>
          <a:p>
            <a:pPr algn="just">
              <a:lnSpc>
                <a:spcPct val="150000"/>
              </a:lnSpc>
            </a:pPr>
            <a:r>
              <a:rPr lang="en-US" dirty="0"/>
              <a:t>It can be used to draw graphs, make photo compositions or do simple (and not so simple) animations.</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14</a:t>
            </a:fld>
            <a:endParaRPr lang="en-US"/>
          </a:p>
        </p:txBody>
      </p:sp>
    </p:spTree>
    <p:extLst>
      <p:ext uri="{BB962C8B-B14F-4D97-AF65-F5344CB8AC3E}">
        <p14:creationId xmlns:p14="http://schemas.microsoft.com/office/powerpoint/2010/main" val="207471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Topics</a:t>
            </a:r>
            <a:r>
              <a:rPr lang="en-US" dirty="0"/>
              <a:t>  </a:t>
            </a:r>
          </a:p>
        </p:txBody>
      </p:sp>
      <p:sp>
        <p:nvSpPr>
          <p:cNvPr id="3" name="Content Placeholder 2"/>
          <p:cNvSpPr>
            <a:spLocks noGrp="1"/>
          </p:cNvSpPr>
          <p:nvPr>
            <p:ph idx="1"/>
          </p:nvPr>
        </p:nvSpPr>
        <p:spPr>
          <a:xfrm>
            <a:off x="838200" y="1627320"/>
            <a:ext cx="10515600" cy="4782116"/>
          </a:xfrm>
        </p:spPr>
        <p:txBody>
          <a:bodyPr>
            <a:normAutofit fontScale="92500" lnSpcReduction="20000"/>
          </a:bodyPr>
          <a:lstStyle/>
          <a:p>
            <a:pPr marL="514350" indent="-514350">
              <a:buFont typeface="+mj-lt"/>
              <a:buAutoNum type="arabicPeriod"/>
            </a:pPr>
            <a:r>
              <a:rPr lang="en-US" dirty="0">
                <a:effectLst>
                  <a:outerShdw blurRad="38100" dist="38100" dir="2700000" algn="tl">
                    <a:srgbClr val="000000">
                      <a:alpha val="43137"/>
                    </a:srgbClr>
                  </a:outerShdw>
                </a:effectLst>
              </a:rPr>
              <a:t>HTML5</a:t>
            </a:r>
          </a:p>
          <a:p>
            <a:pPr marL="514350" indent="-514350">
              <a:buFont typeface="+mj-lt"/>
              <a:buAutoNum type="arabicPeriod"/>
            </a:pPr>
            <a:r>
              <a:rPr lang="en-US" dirty="0">
                <a:effectLst>
                  <a:outerShdw blurRad="38100" dist="38100" dir="2700000" algn="tl">
                    <a:srgbClr val="000000">
                      <a:alpha val="43137"/>
                    </a:srgbClr>
                  </a:outerShdw>
                </a:effectLst>
              </a:rPr>
              <a:t>Elements, Tags, Attributes</a:t>
            </a:r>
          </a:p>
          <a:p>
            <a:pPr marL="514350" indent="-514350">
              <a:buFont typeface="+mj-lt"/>
              <a:buAutoNum type="arabicPeriod"/>
            </a:pPr>
            <a:r>
              <a:rPr lang="en-US" dirty="0">
                <a:effectLst>
                  <a:outerShdw blurRad="38100" dist="38100" dir="2700000" algn="tl">
                    <a:srgbClr val="000000">
                      <a:alpha val="43137"/>
                    </a:srgbClr>
                  </a:outerShdw>
                </a:effectLst>
              </a:rPr>
              <a:t>Formatting Tags</a:t>
            </a:r>
          </a:p>
          <a:p>
            <a:pPr marL="514350" indent="-514350">
              <a:buFont typeface="+mj-lt"/>
              <a:buAutoNum type="arabicPeriod"/>
            </a:pPr>
            <a:r>
              <a:rPr lang="en-US" dirty="0">
                <a:effectLst>
                  <a:outerShdw blurRad="38100" dist="38100" dir="2700000" algn="tl">
                    <a:srgbClr val="000000">
                      <a:alpha val="43137"/>
                    </a:srgbClr>
                  </a:outerShdw>
                </a:effectLst>
              </a:rPr>
              <a:t>Styles </a:t>
            </a:r>
          </a:p>
          <a:p>
            <a:pPr marL="514350" indent="-514350">
              <a:buFont typeface="+mj-lt"/>
              <a:buAutoNum type="arabicPeriod"/>
            </a:pPr>
            <a:r>
              <a:rPr lang="en-US" dirty="0">
                <a:effectLst>
                  <a:outerShdw blurRad="38100" dist="38100" dir="2700000" algn="tl">
                    <a:srgbClr val="000000">
                      <a:alpha val="43137"/>
                    </a:srgbClr>
                  </a:outerShdw>
                </a:effectLst>
              </a:rPr>
              <a:t>Lists</a:t>
            </a:r>
          </a:p>
          <a:p>
            <a:pPr marL="514350" indent="-514350">
              <a:buFont typeface="+mj-lt"/>
              <a:buAutoNum type="arabicPeriod"/>
            </a:pPr>
            <a:r>
              <a:rPr lang="en-US" dirty="0">
                <a:effectLst>
                  <a:outerShdw blurRad="38100" dist="38100" dir="2700000" algn="tl">
                    <a:srgbClr val="000000">
                      <a:alpha val="43137"/>
                    </a:srgbClr>
                  </a:outerShdw>
                </a:effectLst>
              </a:rPr>
              <a:t>Tables</a:t>
            </a:r>
          </a:p>
          <a:p>
            <a:pPr marL="514350" indent="-514350">
              <a:buFont typeface="+mj-lt"/>
              <a:buAutoNum type="arabicPeriod"/>
            </a:pPr>
            <a:r>
              <a:rPr lang="en-US" dirty="0">
                <a:effectLst>
                  <a:outerShdw blurRad="38100" dist="38100" dir="2700000" algn="tl">
                    <a:srgbClr val="000000">
                      <a:alpha val="43137"/>
                    </a:srgbClr>
                  </a:outerShdw>
                </a:effectLst>
              </a:rPr>
              <a:t>Embedding Images</a:t>
            </a:r>
          </a:p>
          <a:p>
            <a:pPr marL="514350" indent="-514350">
              <a:buFont typeface="+mj-lt"/>
              <a:buAutoNum type="arabicPeriod"/>
            </a:pPr>
            <a:r>
              <a:rPr lang="en-US" dirty="0">
                <a:effectLst>
                  <a:outerShdw blurRad="38100" dist="38100" dir="2700000" algn="tl">
                    <a:srgbClr val="000000">
                      <a:alpha val="43137"/>
                    </a:srgbClr>
                  </a:outerShdw>
                </a:effectLst>
              </a:rPr>
              <a:t>Embedding Media (Audio and Video)</a:t>
            </a:r>
          </a:p>
          <a:p>
            <a:pPr marL="514350" indent="-514350">
              <a:buFont typeface="+mj-lt"/>
              <a:buAutoNum type="arabicPeriod"/>
            </a:pPr>
            <a:r>
              <a:rPr lang="en-US" dirty="0">
                <a:effectLst>
                  <a:outerShdw blurRad="38100" dist="38100" dir="2700000" algn="tl">
                    <a:srgbClr val="000000">
                      <a:alpha val="43137"/>
                    </a:srgbClr>
                  </a:outerShdw>
                </a:effectLst>
              </a:rPr>
              <a:t>HTML Elements &amp; Layouts</a:t>
            </a:r>
          </a:p>
          <a:p>
            <a:pPr marL="514350" indent="-514350">
              <a:buFont typeface="+mj-lt"/>
              <a:buAutoNum type="arabicPeriod"/>
            </a:pPr>
            <a:r>
              <a:rPr lang="en-US" dirty="0">
                <a:effectLst>
                  <a:outerShdw blurRad="38100" dist="38100" dir="2700000" algn="tl">
                    <a:srgbClr val="000000">
                      <a:alpha val="43137"/>
                    </a:srgbClr>
                  </a:outerShdw>
                </a:effectLst>
              </a:rPr>
              <a:t>Web forms</a:t>
            </a:r>
          </a:p>
          <a:p>
            <a:pPr marL="514350" indent="-514350">
              <a:buFont typeface="+mj-lt"/>
              <a:buAutoNum type="arabicPeriod"/>
            </a:pPr>
            <a:r>
              <a:rPr lang="en-US" dirty="0">
                <a:effectLst>
                  <a:outerShdw blurRad="38100" dist="38100" dir="2700000" algn="tl">
                    <a:srgbClr val="000000">
                      <a:alpha val="43137"/>
                    </a:srgbClr>
                  </a:outerShdw>
                </a:effectLst>
              </a:rPr>
              <a:t>Canvas</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15</a:t>
            </a:fld>
            <a:endParaRPr lang="en-US"/>
          </a:p>
        </p:txBody>
      </p:sp>
    </p:spTree>
    <p:extLst>
      <p:ext uri="{BB962C8B-B14F-4D97-AF65-F5344CB8AC3E}">
        <p14:creationId xmlns:p14="http://schemas.microsoft.com/office/powerpoint/2010/main" val="91691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HTML program</a:t>
            </a:r>
          </a:p>
        </p:txBody>
      </p:sp>
      <p:sp>
        <p:nvSpPr>
          <p:cNvPr id="3" name="Content Placeholder 2"/>
          <p:cNvSpPr>
            <a:spLocks noGrp="1"/>
          </p:cNvSpPr>
          <p:nvPr>
            <p:ph idx="1"/>
          </p:nvPr>
        </p:nvSpPr>
        <p:spPr/>
        <p:txBody>
          <a:bodyPr/>
          <a:lstStyle/>
          <a:p>
            <a:pPr>
              <a:lnSpc>
                <a:spcPct val="150000"/>
              </a:lnSpc>
            </a:pPr>
            <a:r>
              <a:rPr lang="en-US" dirty="0"/>
              <a:t>Structure of an HTML document</a:t>
            </a:r>
          </a:p>
          <a:p>
            <a:pPr>
              <a:lnSpc>
                <a:spcPct val="150000"/>
              </a:lnSpc>
            </a:pPr>
            <a:r>
              <a:rPr lang="en-US" dirty="0"/>
              <a:t>Write a sample HTML program</a:t>
            </a:r>
          </a:p>
          <a:p>
            <a:pPr>
              <a:lnSpc>
                <a:spcPct val="150000"/>
              </a:lnSpc>
            </a:pPr>
            <a:r>
              <a:rPr lang="en-US" dirty="0"/>
              <a:t>Save and run the HTML program</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16</a:t>
            </a:fld>
            <a:endParaRPr lang="en-US"/>
          </a:p>
        </p:txBody>
      </p:sp>
      <p:pic>
        <p:nvPicPr>
          <p:cNvPr id="8" name="Picture 7"/>
          <p:cNvPicPr>
            <a:picLocks noChangeAspect="1"/>
          </p:cNvPicPr>
          <p:nvPr/>
        </p:nvPicPr>
        <p:blipFill>
          <a:blip r:embed="rId2"/>
          <a:stretch>
            <a:fillRect/>
          </a:stretch>
        </p:blipFill>
        <p:spPr>
          <a:xfrm>
            <a:off x="6572250" y="2326844"/>
            <a:ext cx="4781550" cy="27622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856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Element, Tags and Attributes</a:t>
            </a:r>
          </a:p>
        </p:txBody>
      </p:sp>
      <p:sp>
        <p:nvSpPr>
          <p:cNvPr id="3" name="Content Placeholder 2"/>
          <p:cNvSpPr>
            <a:spLocks noGrp="1"/>
          </p:cNvSpPr>
          <p:nvPr>
            <p:ph idx="1"/>
          </p:nvPr>
        </p:nvSpPr>
        <p:spPr/>
        <p:txBody>
          <a:bodyPr>
            <a:normAutofit fontScale="92500" lnSpcReduction="10000"/>
          </a:bodyPr>
          <a:lstStyle/>
          <a:p>
            <a:pPr algn="just"/>
            <a:r>
              <a:rPr lang="en-US" dirty="0"/>
              <a:t>HTML document contains a set of </a:t>
            </a:r>
            <a:r>
              <a:rPr lang="en-US" dirty="0">
                <a:effectLst>
                  <a:outerShdw blurRad="38100" dist="38100" dir="2700000" algn="tl">
                    <a:srgbClr val="000000">
                      <a:alpha val="43137"/>
                    </a:srgbClr>
                  </a:outerShdw>
                </a:effectLst>
              </a:rPr>
              <a:t>elements</a:t>
            </a:r>
          </a:p>
          <a:p>
            <a:pPr lvl="1" algn="just"/>
            <a:r>
              <a:rPr lang="en-US" dirty="0"/>
              <a:t>Each element consists of some </a:t>
            </a:r>
            <a:r>
              <a:rPr lang="en-US" dirty="0">
                <a:solidFill>
                  <a:srgbClr val="FF0000"/>
                </a:solidFill>
                <a:effectLst>
                  <a:outerShdw blurRad="38100" dist="38100" dir="2700000" algn="tl">
                    <a:srgbClr val="000000">
                      <a:alpha val="43137"/>
                    </a:srgbClr>
                  </a:outerShdw>
                </a:effectLst>
              </a:rPr>
              <a:t>content</a:t>
            </a:r>
            <a:r>
              <a:rPr lang="en-US" dirty="0"/>
              <a:t> </a:t>
            </a:r>
            <a:r>
              <a:rPr lang="en-US" dirty="0">
                <a:effectLst>
                  <a:outerShdw blurRad="38100" dist="38100" dir="2700000" algn="tl">
                    <a:srgbClr val="000000">
                      <a:alpha val="43137"/>
                    </a:srgbClr>
                  </a:outerShdw>
                </a:effectLst>
              </a:rPr>
              <a:t>between tags</a:t>
            </a:r>
          </a:p>
          <a:p>
            <a:pPr lvl="1" algn="just"/>
            <a:r>
              <a:rPr lang="en-US" dirty="0"/>
              <a:t>Some elements don’t require any content - </a:t>
            </a:r>
            <a:r>
              <a:rPr lang="en-US" dirty="0">
                <a:effectLst>
                  <a:outerShdw blurRad="38100" dist="38100" dir="2700000" algn="tl">
                    <a:srgbClr val="000000">
                      <a:alpha val="43137"/>
                    </a:srgbClr>
                  </a:outerShdw>
                </a:effectLst>
              </a:rPr>
              <a:t>Empty Elements</a:t>
            </a:r>
          </a:p>
          <a:p>
            <a:pPr lvl="1" algn="just"/>
            <a:r>
              <a:rPr lang="en-US" dirty="0"/>
              <a:t>We can also have </a:t>
            </a:r>
            <a:r>
              <a:rPr lang="en-US" dirty="0">
                <a:effectLst>
                  <a:outerShdw blurRad="38100" dist="38100" dir="2700000" algn="tl">
                    <a:srgbClr val="000000">
                      <a:alpha val="43137"/>
                    </a:srgbClr>
                  </a:outerShdw>
                </a:effectLst>
              </a:rPr>
              <a:t>Nested Elements</a:t>
            </a:r>
          </a:p>
          <a:p>
            <a:pPr algn="just"/>
            <a:r>
              <a:rPr lang="en-US" dirty="0"/>
              <a:t>The contents to be structured on the web are defined by </a:t>
            </a:r>
            <a:r>
              <a:rPr lang="en-US" dirty="0">
                <a:effectLst>
                  <a:outerShdw blurRad="38100" dist="38100" dir="2700000" algn="tl">
                    <a:srgbClr val="000000">
                      <a:alpha val="43137"/>
                    </a:srgbClr>
                  </a:outerShdw>
                </a:effectLst>
              </a:rPr>
              <a:t>Tags</a:t>
            </a:r>
          </a:p>
          <a:p>
            <a:pPr lvl="1" algn="just"/>
            <a:r>
              <a:rPr lang="en-US" dirty="0"/>
              <a:t>Written in between the </a:t>
            </a:r>
            <a:r>
              <a:rPr lang="en-US" dirty="0">
                <a:effectLst>
                  <a:outerShdw blurRad="38100" dist="38100" dir="2700000" algn="tl">
                    <a:srgbClr val="000000">
                      <a:alpha val="43137"/>
                    </a:srgbClr>
                  </a:outerShdw>
                </a:effectLst>
              </a:rPr>
              <a:t>&lt; &gt;</a:t>
            </a:r>
            <a:r>
              <a:rPr lang="en-US" dirty="0"/>
              <a:t> (</a:t>
            </a:r>
            <a:r>
              <a:rPr lang="en-US" dirty="0">
                <a:solidFill>
                  <a:srgbClr val="FF0000"/>
                </a:solidFill>
                <a:effectLst>
                  <a:outerShdw blurRad="38100" dist="38100" dir="2700000" algn="tl">
                    <a:srgbClr val="000000">
                      <a:alpha val="43137"/>
                    </a:srgbClr>
                  </a:outerShdw>
                </a:effectLst>
              </a:rPr>
              <a:t>angular brackets</a:t>
            </a:r>
            <a:r>
              <a:rPr lang="en-US" dirty="0"/>
              <a:t>)</a:t>
            </a:r>
          </a:p>
          <a:p>
            <a:pPr lvl="1" algn="just"/>
            <a:r>
              <a:rPr lang="en-US" dirty="0"/>
              <a:t>Tags will have a </a:t>
            </a:r>
            <a:r>
              <a:rPr lang="en-US" dirty="0">
                <a:effectLst>
                  <a:outerShdw blurRad="38100" dist="38100" dir="2700000" algn="tl">
                    <a:srgbClr val="000000">
                      <a:alpha val="43137"/>
                    </a:srgbClr>
                  </a:outerShdw>
                </a:effectLst>
              </a:rPr>
              <a:t>start</a:t>
            </a:r>
            <a:r>
              <a:rPr lang="en-US" dirty="0"/>
              <a:t> and an </a:t>
            </a:r>
            <a:r>
              <a:rPr lang="en-US" dirty="0">
                <a:effectLst>
                  <a:outerShdw blurRad="38100" dist="38100" dir="2700000" algn="tl">
                    <a:srgbClr val="000000">
                      <a:alpha val="43137"/>
                    </a:srgbClr>
                  </a:outerShdw>
                </a:effectLst>
              </a:rPr>
              <a:t>end</a:t>
            </a:r>
          </a:p>
          <a:p>
            <a:pPr marL="0" indent="0" algn="just">
              <a:buNone/>
            </a:pPr>
            <a:r>
              <a:rPr lang="en-US" dirty="0"/>
              <a:t>	syntax: </a:t>
            </a:r>
            <a:r>
              <a:rPr lang="en-US" dirty="0">
                <a:solidFill>
                  <a:srgbClr val="FF0000"/>
                </a:solidFill>
                <a:effectLst>
                  <a:outerShdw blurRad="38100" dist="38100" dir="2700000" algn="tl">
                    <a:srgbClr val="000000">
                      <a:alpha val="43137"/>
                    </a:srgbClr>
                  </a:outerShdw>
                </a:effectLst>
              </a:rPr>
              <a:t>&lt;tag-name&gt; </a:t>
            </a:r>
            <a:r>
              <a:rPr lang="en-US" dirty="0">
                <a:solidFill>
                  <a:srgbClr val="0066FF"/>
                </a:solidFill>
                <a:effectLst>
                  <a:outerShdw blurRad="38100" dist="38100" dir="2700000" algn="tl">
                    <a:srgbClr val="000000">
                      <a:alpha val="43137"/>
                    </a:srgbClr>
                  </a:outerShdw>
                </a:effectLst>
              </a:rPr>
              <a:t>content</a:t>
            </a:r>
            <a:r>
              <a:rPr lang="en-US" dirty="0">
                <a:solidFill>
                  <a:srgbClr val="FF0000"/>
                </a:solidFill>
                <a:effectLst>
                  <a:outerShdw blurRad="38100" dist="38100" dir="2700000" algn="tl">
                    <a:srgbClr val="000000">
                      <a:alpha val="43137"/>
                    </a:srgbClr>
                  </a:outerShdw>
                </a:effectLst>
              </a:rPr>
              <a:t> &lt;/tag-name&gt;</a:t>
            </a:r>
          </a:p>
          <a:p>
            <a:pPr lvl="1" algn="just"/>
            <a:r>
              <a:rPr lang="en-US" dirty="0"/>
              <a:t>End tag contains a </a:t>
            </a:r>
            <a:r>
              <a:rPr lang="en-US" dirty="0">
                <a:effectLst>
                  <a:outerShdw blurRad="38100" dist="38100" dir="2700000" algn="tl">
                    <a:srgbClr val="000000">
                      <a:alpha val="43137"/>
                    </a:srgbClr>
                  </a:outerShdw>
                </a:effectLst>
              </a:rPr>
              <a:t>/</a:t>
            </a:r>
            <a:r>
              <a:rPr lang="en-US" dirty="0"/>
              <a:t> (</a:t>
            </a:r>
            <a:r>
              <a:rPr lang="en-US" dirty="0">
                <a:solidFill>
                  <a:srgbClr val="FF0000"/>
                </a:solidFill>
                <a:effectLst>
                  <a:outerShdw blurRad="38100" dist="38100" dir="2700000" algn="tl">
                    <a:srgbClr val="000000">
                      <a:alpha val="43137"/>
                    </a:srgbClr>
                  </a:outerShdw>
                </a:effectLst>
              </a:rPr>
              <a:t>forward slash</a:t>
            </a:r>
            <a:r>
              <a:rPr lang="en-US" dirty="0"/>
              <a:t>) before the tag name</a:t>
            </a:r>
          </a:p>
          <a:p>
            <a:pPr lvl="1" algn="just"/>
            <a:r>
              <a:rPr lang="en-US" dirty="0"/>
              <a:t>Some tags </a:t>
            </a:r>
            <a:r>
              <a:rPr lang="en-US" dirty="0">
                <a:effectLst>
                  <a:outerShdw blurRad="38100" dist="38100" dir="2700000" algn="tl">
                    <a:srgbClr val="000000">
                      <a:alpha val="43137"/>
                    </a:srgbClr>
                  </a:outerShdw>
                </a:effectLst>
              </a:rPr>
              <a:t>don’t require </a:t>
            </a:r>
            <a:r>
              <a:rPr lang="en-US" dirty="0"/>
              <a:t>an end tag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a:t>
            </a:r>
          </a:p>
          <a:p>
            <a:pPr lvl="1" algn="just"/>
            <a:r>
              <a:rPr lang="en-US" dirty="0"/>
              <a:t>HTML Tags are </a:t>
            </a:r>
            <a:r>
              <a:rPr lang="en-US" dirty="0">
                <a:solidFill>
                  <a:srgbClr val="FF0000"/>
                </a:solidFill>
                <a:effectLst>
                  <a:outerShdw blurRad="38100" dist="38100" dir="2700000" algn="tl">
                    <a:srgbClr val="000000">
                      <a:alpha val="43137"/>
                    </a:srgbClr>
                  </a:outerShdw>
                </a:effectLst>
              </a:rPr>
              <a:t>not case sensitive</a:t>
            </a:r>
          </a:p>
          <a:p>
            <a:pPr lvl="1" algn="just"/>
            <a:r>
              <a:rPr lang="en-US" dirty="0"/>
              <a:t>It is advisable to use </a:t>
            </a:r>
            <a:r>
              <a:rPr lang="en-US" dirty="0">
                <a:solidFill>
                  <a:srgbClr val="FF0000"/>
                </a:solidFill>
                <a:effectLst>
                  <a:outerShdw blurRad="38100" dist="38100" dir="2700000" algn="tl">
                    <a:srgbClr val="000000">
                      <a:alpha val="43137"/>
                    </a:srgbClr>
                  </a:outerShdw>
                </a:effectLst>
              </a:rPr>
              <a:t>lower-case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dirty="0"/>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17</a:t>
            </a:fld>
            <a:endParaRPr lang="en-US"/>
          </a:p>
        </p:txBody>
      </p:sp>
    </p:spTree>
    <p:extLst>
      <p:ext uri="{BB962C8B-B14F-4D97-AF65-F5344CB8AC3E}">
        <p14:creationId xmlns:p14="http://schemas.microsoft.com/office/powerpoint/2010/main" val="4289263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 Tags and Attributes</a:t>
            </a:r>
          </a:p>
        </p:txBody>
      </p:sp>
      <p:sp>
        <p:nvSpPr>
          <p:cNvPr id="3" name="Content Placeholder 2"/>
          <p:cNvSpPr>
            <a:spLocks noGrp="1"/>
          </p:cNvSpPr>
          <p:nvPr>
            <p:ph idx="1"/>
          </p:nvPr>
        </p:nvSpPr>
        <p:spPr/>
        <p:txBody>
          <a:bodyPr>
            <a:normAutofit lnSpcReduction="10000"/>
          </a:bodyPr>
          <a:lstStyle/>
          <a:p>
            <a:pPr algn="just"/>
            <a:r>
              <a:rPr lang="en-US" dirty="0"/>
              <a:t>Attributes are additional information pertaining to an Element</a:t>
            </a:r>
          </a:p>
          <a:p>
            <a:pPr lvl="1" algn="just"/>
            <a:r>
              <a:rPr lang="en-US" dirty="0"/>
              <a:t>Written </a:t>
            </a:r>
            <a:r>
              <a:rPr lang="en-US" dirty="0">
                <a:effectLst>
                  <a:outerShdw blurRad="38100" dist="38100" dir="2700000" algn="tl">
                    <a:srgbClr val="000000">
                      <a:alpha val="43137"/>
                    </a:srgbClr>
                  </a:outerShdw>
                </a:effectLst>
              </a:rPr>
              <a:t>inside the starting tag</a:t>
            </a:r>
          </a:p>
          <a:p>
            <a:pPr lvl="1" algn="just"/>
            <a:r>
              <a:rPr lang="en-US" dirty="0"/>
              <a:t>Declared by </a:t>
            </a:r>
            <a:r>
              <a:rPr lang="en-US" dirty="0">
                <a:effectLst>
                  <a:outerShdw blurRad="38100" dist="38100" dir="2700000" algn="tl">
                    <a:srgbClr val="000000">
                      <a:alpha val="43137"/>
                    </a:srgbClr>
                  </a:outerShdw>
                </a:effectLst>
              </a:rPr>
              <a:t>name - value pair </a:t>
            </a:r>
            <a:r>
              <a:rPr lang="en-US" dirty="0"/>
              <a:t>separated by </a:t>
            </a:r>
            <a:r>
              <a:rPr lang="en-US" dirty="0">
                <a:solidFill>
                  <a:srgbClr val="FF0000"/>
                </a:solidFill>
                <a:effectLst>
                  <a:outerShdw blurRad="38100" dist="38100" dir="2700000" algn="tl">
                    <a:srgbClr val="000000">
                      <a:alpha val="43137"/>
                    </a:srgbClr>
                  </a:outerShdw>
                </a:effectLst>
              </a:rPr>
              <a:t>= symbol</a:t>
            </a:r>
          </a:p>
          <a:p>
            <a:pPr marL="0" indent="0" algn="just">
              <a:buNone/>
            </a:pPr>
            <a:r>
              <a:rPr lang="en-US" dirty="0"/>
              <a:t>	syntax: </a:t>
            </a:r>
            <a:r>
              <a:rPr lang="en-US" sz="2600" dirty="0">
                <a:solidFill>
                  <a:srgbClr val="FF0000"/>
                </a:solidFill>
                <a:effectLst>
                  <a:outerShdw blurRad="38100" dist="38100" dir="2700000" algn="tl">
                    <a:srgbClr val="000000">
                      <a:alpha val="43137"/>
                    </a:srgbClr>
                  </a:outerShdw>
                </a:effectLst>
              </a:rPr>
              <a:t>&lt;tag-name </a:t>
            </a:r>
            <a:r>
              <a:rPr lang="en-US" sz="2600" dirty="0" err="1">
                <a:effectLst>
                  <a:outerShdw blurRad="38100" dist="38100" dir="2700000" algn="tl">
                    <a:srgbClr val="000000">
                      <a:alpha val="43137"/>
                    </a:srgbClr>
                  </a:outerShdw>
                </a:effectLst>
              </a:rPr>
              <a:t>attr</a:t>
            </a:r>
            <a:r>
              <a:rPr lang="en-US" sz="2600" dirty="0">
                <a:effectLst>
                  <a:outerShdw blurRad="38100" dist="38100" dir="2700000" algn="tl">
                    <a:srgbClr val="000000">
                      <a:alpha val="43137"/>
                    </a:srgbClr>
                  </a:outerShdw>
                </a:effectLst>
              </a:rPr>
              <a:t>-name</a:t>
            </a:r>
            <a:r>
              <a:rPr lang="en-US" sz="2600" dirty="0">
                <a:solidFill>
                  <a:srgbClr val="FF0000"/>
                </a:solidFill>
                <a:effectLst>
                  <a:outerShdw blurRad="38100" dist="38100" dir="2700000" algn="tl">
                    <a:srgbClr val="000000">
                      <a:alpha val="43137"/>
                    </a:srgbClr>
                  </a:outerShdw>
                </a:effectLst>
              </a:rPr>
              <a:t>=</a:t>
            </a:r>
            <a:r>
              <a:rPr lang="en-US" sz="2600" dirty="0" err="1">
                <a:effectLst>
                  <a:outerShdw blurRad="38100" dist="38100" dir="2700000" algn="tl">
                    <a:srgbClr val="000000">
                      <a:alpha val="43137"/>
                    </a:srgbClr>
                  </a:outerShdw>
                </a:effectLst>
              </a:rPr>
              <a:t>attr</a:t>
            </a:r>
            <a:r>
              <a:rPr lang="en-US" sz="2600" dirty="0">
                <a:effectLst>
                  <a:outerShdw blurRad="38100" dist="38100" dir="2700000" algn="tl">
                    <a:srgbClr val="000000">
                      <a:alpha val="43137"/>
                    </a:srgbClr>
                  </a:outerShdw>
                </a:effectLst>
              </a:rPr>
              <a:t>-value</a:t>
            </a:r>
            <a:r>
              <a:rPr lang="en-US" sz="2600" dirty="0">
                <a:solidFill>
                  <a:srgbClr val="FF0000"/>
                </a:solidFill>
                <a:effectLst>
                  <a:outerShdw blurRad="38100" dist="38100" dir="2700000" algn="tl">
                    <a:srgbClr val="000000">
                      <a:alpha val="43137"/>
                    </a:srgbClr>
                  </a:outerShdw>
                </a:effectLst>
              </a:rPr>
              <a:t>&gt; </a:t>
            </a:r>
            <a:r>
              <a:rPr lang="en-US" sz="2600" dirty="0">
                <a:solidFill>
                  <a:srgbClr val="0066FF"/>
                </a:solidFill>
                <a:effectLst>
                  <a:outerShdw blurRad="38100" dist="38100" dir="2700000" algn="tl">
                    <a:srgbClr val="000000">
                      <a:alpha val="43137"/>
                    </a:srgbClr>
                  </a:outerShdw>
                </a:effectLst>
              </a:rPr>
              <a:t>content</a:t>
            </a:r>
            <a:r>
              <a:rPr lang="en-US" sz="2600" dirty="0">
                <a:solidFill>
                  <a:srgbClr val="FF0000"/>
                </a:solidFill>
                <a:effectLst>
                  <a:outerShdw blurRad="38100" dist="38100" dir="2700000" algn="tl">
                    <a:srgbClr val="000000">
                      <a:alpha val="43137"/>
                    </a:srgbClr>
                  </a:outerShdw>
                </a:effectLst>
              </a:rPr>
              <a:t> &lt;/tag-name&gt;</a:t>
            </a:r>
          </a:p>
          <a:p>
            <a:pPr algn="just"/>
            <a:r>
              <a:rPr lang="en-US" dirty="0"/>
              <a:t>Values containing </a:t>
            </a:r>
            <a:r>
              <a:rPr lang="en-US" dirty="0">
                <a:solidFill>
                  <a:srgbClr val="FF0000"/>
                </a:solidFill>
                <a:effectLst>
                  <a:outerShdw blurRad="38100" dist="38100" dir="2700000" algn="tl">
                    <a:srgbClr val="000000">
                      <a:alpha val="43137"/>
                    </a:srgbClr>
                  </a:outerShdw>
                </a:effectLst>
              </a:rPr>
              <a:t>spaces</a:t>
            </a:r>
            <a:r>
              <a:rPr lang="en-US" dirty="0"/>
              <a:t> have to be entered within </a:t>
            </a:r>
            <a:r>
              <a:rPr lang="en-US" dirty="0">
                <a:solidFill>
                  <a:srgbClr val="FF0000"/>
                </a:solidFill>
                <a:effectLst>
                  <a:outerShdw blurRad="38100" dist="38100" dir="2700000" algn="tl">
                    <a:srgbClr val="000000">
                      <a:alpha val="43137"/>
                    </a:srgbClr>
                  </a:outerShdw>
                </a:effectLst>
              </a:rPr>
              <a:t>single</a:t>
            </a:r>
            <a:r>
              <a:rPr lang="en-US" dirty="0"/>
              <a:t> or </a:t>
            </a:r>
            <a:r>
              <a:rPr lang="en-US" dirty="0">
                <a:solidFill>
                  <a:srgbClr val="FF0000"/>
                </a:solidFill>
                <a:effectLst>
                  <a:outerShdw blurRad="38100" dist="38100" dir="2700000" algn="tl">
                    <a:srgbClr val="000000">
                      <a:alpha val="43137"/>
                    </a:srgbClr>
                  </a:outerShdw>
                </a:effectLst>
              </a:rPr>
              <a:t>double quotes</a:t>
            </a:r>
          </a:p>
          <a:p>
            <a:pPr marL="0" indent="0" algn="just">
              <a:buNone/>
            </a:pPr>
            <a:r>
              <a:rPr lang="en-US" dirty="0">
                <a:effectLst>
                  <a:outerShdw blurRad="38100" dist="38100" dir="2700000" algn="tl">
                    <a:srgbClr val="000000">
                      <a:alpha val="43137"/>
                    </a:srgbClr>
                  </a:outerShdw>
                </a:effectLst>
              </a:rPr>
              <a:t>	</a:t>
            </a:r>
            <a:r>
              <a:rPr lang="en-US" sz="2600" dirty="0">
                <a:solidFill>
                  <a:srgbClr val="FF0000"/>
                </a:solidFill>
                <a:effectLst>
                  <a:outerShdw blurRad="38100" dist="38100" dir="2700000" algn="tl">
                    <a:srgbClr val="000000">
                      <a:alpha val="43137"/>
                    </a:srgbClr>
                  </a:outerShdw>
                </a:effectLst>
              </a:rPr>
              <a:t>&lt;tag-name </a:t>
            </a:r>
            <a:r>
              <a:rPr lang="en-US" sz="2600" dirty="0" err="1">
                <a:solidFill>
                  <a:srgbClr val="FF0000"/>
                </a:solidFill>
                <a:effectLst>
                  <a:outerShdw blurRad="38100" dist="38100" dir="2700000" algn="tl">
                    <a:srgbClr val="000000">
                      <a:alpha val="43137"/>
                    </a:srgbClr>
                  </a:outerShdw>
                </a:effectLst>
              </a:rPr>
              <a:t>attr</a:t>
            </a:r>
            <a:r>
              <a:rPr lang="en-US" sz="2600" dirty="0">
                <a:solidFill>
                  <a:srgbClr val="FF0000"/>
                </a:solidFill>
                <a:effectLst>
                  <a:outerShdw blurRad="38100" dist="38100" dir="2700000" algn="tl">
                    <a:srgbClr val="000000">
                      <a:alpha val="43137"/>
                    </a:srgbClr>
                  </a:outerShdw>
                </a:effectLst>
              </a:rPr>
              <a:t>-name="</a:t>
            </a:r>
            <a:r>
              <a:rPr lang="en-US" sz="2600" dirty="0" err="1">
                <a:solidFill>
                  <a:srgbClr val="FF33CC"/>
                </a:solidFill>
                <a:effectLst>
                  <a:outerShdw blurRad="38100" dist="38100" dir="2700000" algn="tl">
                    <a:srgbClr val="000000">
                      <a:alpha val="43137"/>
                    </a:srgbClr>
                  </a:outerShdw>
                </a:effectLst>
              </a:rPr>
              <a:t>attr</a:t>
            </a:r>
            <a:r>
              <a:rPr lang="en-US" sz="2600" dirty="0">
                <a:solidFill>
                  <a:srgbClr val="FF33CC"/>
                </a:solidFill>
                <a:effectLst>
                  <a:outerShdw blurRad="38100" dist="38100" dir="2700000" algn="tl">
                    <a:srgbClr val="000000">
                      <a:alpha val="43137"/>
                    </a:srgbClr>
                  </a:outerShdw>
                </a:effectLst>
              </a:rPr>
              <a:t> value</a:t>
            </a:r>
            <a:r>
              <a:rPr lang="en-US" sz="2600" dirty="0">
                <a:effectLst>
                  <a:outerShdw blurRad="38100" dist="38100" dir="2700000" algn="tl">
                    <a:srgbClr val="000000">
                      <a:alpha val="43137"/>
                    </a:srgbClr>
                  </a:outerShdw>
                </a:effectLst>
              </a:rPr>
              <a:t>"</a:t>
            </a:r>
            <a:r>
              <a:rPr lang="en-US" sz="2600" dirty="0">
                <a:solidFill>
                  <a:srgbClr val="FF0000"/>
                </a:solidFill>
                <a:effectLst>
                  <a:outerShdw blurRad="38100" dist="38100" dir="2700000" algn="tl">
                    <a:srgbClr val="000000">
                      <a:alpha val="43137"/>
                    </a:srgbClr>
                  </a:outerShdw>
                </a:effectLst>
              </a:rPr>
              <a:t>&gt;</a:t>
            </a:r>
            <a:r>
              <a:rPr lang="en-US" sz="2600" dirty="0">
                <a:effectLst>
                  <a:outerShdw blurRad="38100" dist="38100" dir="2700000" algn="tl">
                    <a:srgbClr val="000000">
                      <a:alpha val="43137"/>
                    </a:srgbClr>
                  </a:outerShdw>
                </a:effectLst>
              </a:rPr>
              <a:t> </a:t>
            </a:r>
            <a:r>
              <a:rPr lang="en-US" sz="2600" dirty="0">
                <a:solidFill>
                  <a:srgbClr val="0066FF"/>
                </a:solidFill>
                <a:effectLst>
                  <a:outerShdw blurRad="38100" dist="38100" dir="2700000" algn="tl">
                    <a:srgbClr val="000000">
                      <a:alpha val="43137"/>
                    </a:srgbClr>
                  </a:outerShdw>
                </a:effectLst>
              </a:rPr>
              <a:t>content</a:t>
            </a:r>
            <a:r>
              <a:rPr lang="en-US" sz="2600" dirty="0">
                <a:effectLst>
                  <a:outerShdw blurRad="38100" dist="38100" dir="2700000" algn="tl">
                    <a:srgbClr val="000000">
                      <a:alpha val="43137"/>
                    </a:srgbClr>
                  </a:outerShdw>
                </a:effectLst>
              </a:rPr>
              <a:t> </a:t>
            </a:r>
            <a:r>
              <a:rPr lang="en-US" sz="2600" dirty="0">
                <a:solidFill>
                  <a:srgbClr val="FF0000"/>
                </a:solidFill>
                <a:effectLst>
                  <a:outerShdw blurRad="38100" dist="38100" dir="2700000" algn="tl">
                    <a:srgbClr val="000000">
                      <a:alpha val="43137"/>
                    </a:srgbClr>
                  </a:outerShdw>
                </a:effectLst>
              </a:rPr>
              <a:t>&lt;/tag-name&gt;</a:t>
            </a:r>
          </a:p>
          <a:p>
            <a:pPr algn="just"/>
            <a:r>
              <a:rPr lang="en-US" dirty="0"/>
              <a:t>Multiple attributes can be specified with help of </a:t>
            </a:r>
            <a:r>
              <a:rPr lang="en-US" dirty="0">
                <a:effectLst>
                  <a:outerShdw blurRad="38100" dist="38100" dir="2700000" algn="tl">
                    <a:srgbClr val="000000">
                      <a:alpha val="43137"/>
                    </a:srgbClr>
                  </a:outerShdw>
                </a:effectLst>
              </a:rPr>
              <a:t>;</a:t>
            </a:r>
            <a:r>
              <a:rPr lang="en-US" dirty="0"/>
              <a:t> (</a:t>
            </a:r>
            <a:r>
              <a:rPr lang="en-US" dirty="0">
                <a:solidFill>
                  <a:srgbClr val="FF0000"/>
                </a:solidFill>
                <a:effectLst>
                  <a:outerShdw blurRad="38100" dist="38100" dir="2700000" algn="tl">
                    <a:srgbClr val="000000">
                      <a:alpha val="43137"/>
                    </a:srgbClr>
                  </a:outerShdw>
                </a:effectLst>
              </a:rPr>
              <a:t>semicolon</a:t>
            </a:r>
            <a:r>
              <a:rPr lang="en-US" dirty="0"/>
              <a:t>) separator</a:t>
            </a:r>
          </a:p>
          <a:p>
            <a:pPr marL="0" indent="0" algn="just">
              <a:buNone/>
            </a:pPr>
            <a:r>
              <a:rPr lang="en-US" sz="2200" dirty="0">
                <a:effectLst>
                  <a:outerShdw blurRad="38100" dist="38100" dir="2700000" algn="tl">
                    <a:srgbClr val="000000">
                      <a:alpha val="43137"/>
                    </a:srgbClr>
                  </a:outerShdw>
                </a:effectLst>
              </a:rPr>
              <a:t>       </a:t>
            </a:r>
            <a:r>
              <a:rPr lang="en-US" sz="2200" dirty="0">
                <a:solidFill>
                  <a:srgbClr val="FF0000"/>
                </a:solidFill>
                <a:effectLst>
                  <a:outerShdw blurRad="38100" dist="38100" dir="2700000" algn="tl">
                    <a:srgbClr val="000000">
                      <a:alpha val="43137"/>
                    </a:srgbClr>
                  </a:outerShdw>
                </a:effectLst>
              </a:rPr>
              <a:t>&lt;tag-name attr-name1="</a:t>
            </a:r>
            <a:r>
              <a:rPr lang="en-US" sz="2200" dirty="0" err="1">
                <a:solidFill>
                  <a:srgbClr val="FF33CC"/>
                </a:solidFill>
                <a:effectLst>
                  <a:outerShdw blurRad="38100" dist="38100" dir="2700000" algn="tl">
                    <a:srgbClr val="000000">
                      <a:alpha val="43137"/>
                    </a:srgbClr>
                  </a:outerShdw>
                </a:effectLst>
              </a:rPr>
              <a:t>attr</a:t>
            </a:r>
            <a:r>
              <a:rPr lang="en-US" sz="2200" dirty="0">
                <a:solidFill>
                  <a:srgbClr val="FF33CC"/>
                </a:solidFill>
                <a:effectLst>
                  <a:outerShdw blurRad="38100" dist="38100" dir="2700000" algn="tl">
                    <a:srgbClr val="000000">
                      <a:alpha val="43137"/>
                    </a:srgbClr>
                  </a:outerShdw>
                </a:effectLst>
              </a:rPr>
              <a:t> value</a:t>
            </a:r>
            <a:r>
              <a:rPr lang="en-US" sz="2200" dirty="0">
                <a:solidFill>
                  <a:srgbClr val="FF0000"/>
                </a:solidFill>
                <a:effectLst>
                  <a:outerShdw blurRad="38100" dist="38100" dir="2700000" algn="tl">
                    <a:srgbClr val="000000">
                      <a:alpha val="43137"/>
                    </a:srgbClr>
                  </a:outerShdw>
                </a:effectLst>
              </a:rPr>
              <a:t>"</a:t>
            </a:r>
            <a:r>
              <a:rPr lang="en-US" sz="2200" dirty="0">
                <a:solidFill>
                  <a:srgbClr val="0066FF"/>
                </a:solidFill>
                <a:effectLst>
                  <a:outerShdw blurRad="38100" dist="38100" dir="2700000" algn="tl">
                    <a:srgbClr val="000000">
                      <a:alpha val="43137"/>
                    </a:srgbClr>
                  </a:outerShdw>
                </a:effectLst>
              </a:rPr>
              <a:t>;</a:t>
            </a:r>
            <a:r>
              <a:rPr lang="en-US" sz="2200" dirty="0">
                <a:solidFill>
                  <a:srgbClr val="FF0000"/>
                </a:solidFill>
                <a:effectLst>
                  <a:outerShdw blurRad="38100" dist="38100" dir="2700000" algn="tl">
                    <a:srgbClr val="000000">
                      <a:alpha val="43137"/>
                    </a:srgbClr>
                  </a:outerShdw>
                </a:effectLst>
              </a:rPr>
              <a:t> attr-name2="</a:t>
            </a:r>
            <a:r>
              <a:rPr lang="en-US" sz="2200" dirty="0" err="1">
                <a:solidFill>
                  <a:srgbClr val="FF33CC"/>
                </a:solidFill>
                <a:effectLst>
                  <a:outerShdw blurRad="38100" dist="38100" dir="2700000" algn="tl">
                    <a:srgbClr val="000000">
                      <a:alpha val="43137"/>
                    </a:srgbClr>
                  </a:outerShdw>
                </a:effectLst>
              </a:rPr>
              <a:t>attr</a:t>
            </a:r>
            <a:r>
              <a:rPr lang="en-US" sz="2200" dirty="0">
                <a:solidFill>
                  <a:srgbClr val="FF33CC"/>
                </a:solidFill>
                <a:effectLst>
                  <a:outerShdw blurRad="38100" dist="38100" dir="2700000" algn="tl">
                    <a:srgbClr val="000000">
                      <a:alpha val="43137"/>
                    </a:srgbClr>
                  </a:outerShdw>
                </a:effectLst>
              </a:rPr>
              <a:t> value</a:t>
            </a:r>
            <a:r>
              <a:rPr lang="en-US" sz="2200" dirty="0">
                <a:solidFill>
                  <a:srgbClr val="FF0000"/>
                </a:solidFill>
                <a:effectLst>
                  <a:outerShdw blurRad="38100" dist="38100" dir="2700000" algn="tl">
                    <a:srgbClr val="000000">
                      <a:alpha val="43137"/>
                    </a:srgbClr>
                  </a:outerShdw>
                </a:effectLst>
              </a:rPr>
              <a:t>"&gt; content &lt;/tag-name&gt;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dirty="0"/>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18</a:t>
            </a:fld>
            <a:endParaRPr lang="en-US"/>
          </a:p>
        </p:txBody>
      </p:sp>
    </p:spTree>
    <p:extLst>
      <p:ext uri="{BB962C8B-B14F-4D97-AF65-F5344CB8AC3E}">
        <p14:creationId xmlns:p14="http://schemas.microsoft.com/office/powerpoint/2010/main" val="26171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Common Attributes</a:t>
            </a:r>
          </a:p>
        </p:txBody>
      </p:sp>
      <p:sp>
        <p:nvSpPr>
          <p:cNvPr id="3" name="Content Placeholder 2"/>
          <p:cNvSpPr>
            <a:spLocks noGrp="1"/>
          </p:cNvSpPr>
          <p:nvPr>
            <p:ph idx="1"/>
          </p:nvPr>
        </p:nvSpPr>
        <p:spPr/>
        <p:txBody>
          <a:bodyPr>
            <a:normAutofit/>
          </a:bodyPr>
          <a:lstStyle/>
          <a:p>
            <a:pPr algn="just"/>
            <a:r>
              <a:rPr lang="en-US" dirty="0">
                <a:effectLst>
                  <a:outerShdw blurRad="38100" dist="38100" dir="2700000" algn="tl">
                    <a:srgbClr val="000000">
                      <a:alpha val="43137"/>
                    </a:srgbClr>
                  </a:outerShdw>
                </a:effectLst>
              </a:rPr>
              <a:t>title</a:t>
            </a:r>
          </a:p>
          <a:p>
            <a:pPr algn="just"/>
            <a:r>
              <a:rPr lang="en-US" dirty="0" err="1">
                <a:effectLst>
                  <a:outerShdw blurRad="38100" dist="38100" dir="2700000" algn="tl">
                    <a:srgbClr val="000000">
                      <a:alpha val="43137"/>
                    </a:srgbClr>
                  </a:outerShdw>
                </a:effectLst>
              </a:rPr>
              <a:t>href</a:t>
            </a:r>
            <a:endParaRPr lang="en-US" dirty="0">
              <a:effectLst>
                <a:outerShdw blurRad="38100" dist="38100" dir="2700000" algn="tl">
                  <a:srgbClr val="000000">
                    <a:alpha val="43137"/>
                  </a:srgbClr>
                </a:outerShdw>
              </a:effectLst>
            </a:endParaRPr>
          </a:p>
          <a:p>
            <a:pPr algn="just"/>
            <a:r>
              <a:rPr lang="en-US" dirty="0">
                <a:effectLst>
                  <a:outerShdw blurRad="38100" dist="38100" dir="2700000" algn="tl">
                    <a:srgbClr val="000000">
                      <a:alpha val="43137"/>
                    </a:srgbClr>
                  </a:outerShdw>
                </a:effectLst>
              </a:rPr>
              <a:t>id</a:t>
            </a:r>
          </a:p>
          <a:p>
            <a:pPr algn="just"/>
            <a:r>
              <a:rPr lang="en-US" dirty="0">
                <a:effectLst>
                  <a:outerShdw blurRad="38100" dist="38100" dir="2700000" algn="tl">
                    <a:srgbClr val="000000">
                      <a:alpha val="43137"/>
                    </a:srgbClr>
                  </a:outerShdw>
                </a:effectLst>
              </a:rPr>
              <a:t>class</a:t>
            </a:r>
          </a:p>
          <a:p>
            <a:pPr algn="just"/>
            <a:r>
              <a:rPr lang="en-US" dirty="0">
                <a:effectLst>
                  <a:outerShdw blurRad="38100" dist="38100" dir="2700000" algn="tl">
                    <a:srgbClr val="000000">
                      <a:alpha val="43137"/>
                    </a:srgbClr>
                  </a:outerShdw>
                </a:effectLst>
              </a:rPr>
              <a:t>Style</a:t>
            </a:r>
          </a:p>
          <a:p>
            <a:pPr algn="just"/>
            <a:r>
              <a:rPr lang="en-US" dirty="0"/>
              <a:t>Values that contain more than one word, can be declared within single or double </a:t>
            </a:r>
            <a:r>
              <a:rPr lang="en-US" dirty="0">
                <a:effectLst>
                  <a:outerShdw blurRad="38100" dist="38100" dir="2700000" algn="tl">
                    <a:srgbClr val="000000">
                      <a:alpha val="43137"/>
                    </a:srgbClr>
                  </a:outerShdw>
                </a:effectLst>
              </a:rPr>
              <a:t>quotes</a:t>
            </a:r>
            <a:r>
              <a:rPr lang="en-US" dirty="0"/>
              <a:t>. It is mandatory to close the quotes, else the attribute won’t be applied.</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19</a:t>
            </a:fld>
            <a:endParaRPr lang="en-US"/>
          </a:p>
        </p:txBody>
      </p:sp>
    </p:spTree>
    <p:extLst>
      <p:ext uri="{BB962C8B-B14F-4D97-AF65-F5344CB8AC3E}">
        <p14:creationId xmlns:p14="http://schemas.microsoft.com/office/powerpoint/2010/main" val="56310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Formatting Tags</a:t>
            </a:r>
          </a:p>
        </p:txBody>
      </p:sp>
      <p:sp>
        <p:nvSpPr>
          <p:cNvPr id="3" name="Content Placeholder 2"/>
          <p:cNvSpPr>
            <a:spLocks noGrp="1"/>
          </p:cNvSpPr>
          <p:nvPr>
            <p:ph idx="1"/>
          </p:nvPr>
        </p:nvSpPr>
        <p:spPr>
          <a:xfrm>
            <a:off x="7107385" y="1825625"/>
            <a:ext cx="4786758" cy="4351338"/>
          </a:xfrm>
        </p:spPr>
        <p:txBody>
          <a:bodyPr>
            <a:normAutofit fontScale="92500"/>
          </a:bodyPr>
          <a:lstStyle/>
          <a:p>
            <a:r>
              <a:rPr lang="pt-BR" dirty="0">
                <a:effectLst>
                  <a:outerShdw blurRad="38100" dist="38100" dir="2700000" algn="tl">
                    <a:srgbClr val="000000">
                      <a:alpha val="43137"/>
                    </a:srgbClr>
                  </a:outerShdw>
                </a:effectLst>
              </a:rPr>
              <a:t>Headings</a:t>
            </a:r>
            <a:r>
              <a:rPr lang="pt-BR" dirty="0"/>
              <a:t> (h1, h2, h3, h4, h5, h6)</a:t>
            </a:r>
          </a:p>
          <a:p>
            <a:r>
              <a:rPr lang="en-US" dirty="0">
                <a:effectLst>
                  <a:outerShdw blurRad="38100" dist="38100" dir="2700000" algn="tl">
                    <a:srgbClr val="000000">
                      <a:alpha val="43137"/>
                    </a:srgbClr>
                  </a:outerShdw>
                </a:effectLst>
              </a:rPr>
              <a:t>Paragraph</a:t>
            </a:r>
          </a:p>
          <a:p>
            <a:r>
              <a:rPr lang="en-US" dirty="0">
                <a:effectLst>
                  <a:outerShdw blurRad="38100" dist="38100" dir="2700000" algn="tl">
                    <a:srgbClr val="000000">
                      <a:alpha val="43137"/>
                    </a:srgbClr>
                  </a:outerShdw>
                </a:effectLst>
              </a:rPr>
              <a:t>Bold, Italic, Underline</a:t>
            </a:r>
          </a:p>
          <a:p>
            <a:r>
              <a:rPr lang="en-US" dirty="0">
                <a:effectLst>
                  <a:outerShdw blurRad="38100" dist="38100" dir="2700000" algn="tl">
                    <a:srgbClr val="000000">
                      <a:alpha val="43137"/>
                    </a:srgbClr>
                  </a:outerShdw>
                </a:effectLst>
              </a:rPr>
              <a:t>Large and Small</a:t>
            </a:r>
          </a:p>
          <a:p>
            <a:r>
              <a:rPr lang="en-US" dirty="0">
                <a:effectLst>
                  <a:outerShdw blurRad="38100" dist="38100" dir="2700000" algn="tl">
                    <a:srgbClr val="000000">
                      <a:alpha val="43137"/>
                    </a:srgbClr>
                  </a:outerShdw>
                </a:effectLst>
              </a:rPr>
              <a:t>Insert and Delete</a:t>
            </a:r>
          </a:p>
          <a:p>
            <a:r>
              <a:rPr lang="en-US" dirty="0">
                <a:effectLst>
                  <a:outerShdw blurRad="38100" dist="38100" dir="2700000" algn="tl">
                    <a:srgbClr val="000000">
                      <a:alpha val="43137"/>
                    </a:srgbClr>
                  </a:outerShdw>
                </a:effectLst>
              </a:rPr>
              <a:t>Superscript and Subscript</a:t>
            </a:r>
          </a:p>
          <a:p>
            <a:r>
              <a:rPr lang="en-US" dirty="0">
                <a:effectLst>
                  <a:outerShdw blurRad="38100" dist="38100" dir="2700000" algn="tl">
                    <a:srgbClr val="000000">
                      <a:alpha val="43137"/>
                    </a:srgbClr>
                  </a:outerShdw>
                </a:effectLst>
              </a:rPr>
              <a:t>Line Break</a:t>
            </a:r>
          </a:p>
          <a:p>
            <a:r>
              <a:rPr lang="en-US" dirty="0">
                <a:effectLst>
                  <a:outerShdw blurRad="38100" dist="38100" dir="2700000" algn="tl">
                    <a:srgbClr val="000000">
                      <a:alpha val="43137"/>
                    </a:srgbClr>
                  </a:outerShdw>
                </a:effectLst>
              </a:rPr>
              <a:t>Horizontal Ruler</a:t>
            </a:r>
          </a:p>
          <a:p>
            <a:r>
              <a:rPr lang="en-US" dirty="0">
                <a:effectLst>
                  <a:outerShdw blurRad="38100" dist="38100" dir="2700000" algn="tl">
                    <a:srgbClr val="000000">
                      <a:alpha val="43137"/>
                    </a:srgbClr>
                  </a:outerShdw>
                </a:effectLst>
              </a:rPr>
              <a:t>Anchor</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20</a:t>
            </a:fld>
            <a:endParaRPr lang="en-US"/>
          </a:p>
        </p:txBody>
      </p:sp>
      <p:sp>
        <p:nvSpPr>
          <p:cNvPr id="8" name="Content Placeholder 2"/>
          <p:cNvSpPr txBox="1">
            <a:spLocks/>
          </p:cNvSpPr>
          <p:nvPr/>
        </p:nvSpPr>
        <p:spPr>
          <a:xfrm>
            <a:off x="838200" y="1825625"/>
            <a:ext cx="583969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dirty="0"/>
              <a:t>HTML allows us to do basic formatting of the content</a:t>
            </a:r>
          </a:p>
          <a:p>
            <a:pPr algn="just">
              <a:lnSpc>
                <a:spcPct val="150000"/>
              </a:lnSpc>
            </a:pPr>
            <a:r>
              <a:rPr lang="en-US" dirty="0"/>
              <a:t>Formatting tags are exactly same as in any word processor application</a:t>
            </a:r>
          </a:p>
        </p:txBody>
      </p:sp>
    </p:spTree>
    <p:extLst>
      <p:ext uri="{BB962C8B-B14F-4D97-AF65-F5344CB8AC3E}">
        <p14:creationId xmlns:p14="http://schemas.microsoft.com/office/powerpoint/2010/main" val="1792360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Headings</a:t>
            </a:r>
          </a:p>
        </p:txBody>
      </p:sp>
      <p:sp>
        <p:nvSpPr>
          <p:cNvPr id="3" name="Content Placeholder 2"/>
          <p:cNvSpPr>
            <a:spLocks noGrp="1"/>
          </p:cNvSpPr>
          <p:nvPr>
            <p:ph idx="1"/>
          </p:nvPr>
        </p:nvSpPr>
        <p:spPr/>
        <p:txBody>
          <a:bodyPr/>
          <a:lstStyle/>
          <a:p>
            <a:pPr algn="just">
              <a:spcAft>
                <a:spcPts val="1200"/>
              </a:spcAft>
            </a:pPr>
            <a:r>
              <a:rPr lang="en-US" dirty="0"/>
              <a:t>In any document, we use headings for various purposes in various sizes</a:t>
            </a:r>
          </a:p>
          <a:p>
            <a:pPr algn="just">
              <a:spcAft>
                <a:spcPts val="1200"/>
              </a:spcAft>
            </a:pPr>
            <a:r>
              <a:rPr lang="en-US" dirty="0"/>
              <a:t>HTML allows us to create headings with six different sizes</a:t>
            </a:r>
          </a:p>
          <a:p>
            <a:pPr algn="just">
              <a:spcAft>
                <a:spcPts val="1200"/>
              </a:spcAft>
            </a:pPr>
            <a:r>
              <a:rPr lang="en-US" dirty="0"/>
              <a:t>Heading tag will start from </a:t>
            </a:r>
            <a:r>
              <a:rPr lang="en-US" dirty="0">
                <a:solidFill>
                  <a:srgbClr val="FF0000"/>
                </a:solidFill>
                <a:effectLst>
                  <a:outerShdw blurRad="38100" dist="38100" dir="2700000" algn="tl">
                    <a:srgbClr val="000000">
                      <a:alpha val="43137"/>
                    </a:srgbClr>
                  </a:outerShdw>
                </a:effectLst>
              </a:rPr>
              <a:t>h1</a:t>
            </a:r>
            <a:r>
              <a:rPr lang="en-US" dirty="0"/>
              <a:t> for large headings and ends with </a:t>
            </a:r>
            <a:r>
              <a:rPr lang="en-US" dirty="0">
                <a:solidFill>
                  <a:srgbClr val="FF0000"/>
                </a:solidFill>
                <a:effectLst>
                  <a:outerShdw blurRad="38100" dist="38100" dir="2700000" algn="tl">
                    <a:srgbClr val="000000">
                      <a:alpha val="43137"/>
                    </a:srgbClr>
                  </a:outerShdw>
                </a:effectLst>
              </a:rPr>
              <a:t>h6</a:t>
            </a:r>
            <a:r>
              <a:rPr lang="en-US" dirty="0"/>
              <a:t> for smaller ones</a:t>
            </a:r>
          </a:p>
          <a:p>
            <a:pPr algn="just">
              <a:spcAft>
                <a:spcPts val="1200"/>
              </a:spcAft>
            </a:pPr>
            <a:r>
              <a:rPr lang="en-US" dirty="0"/>
              <a:t>A line space will be added automatically before and after the headings</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21</a:t>
            </a:fld>
            <a:endParaRPr lang="en-US"/>
          </a:p>
        </p:txBody>
      </p:sp>
    </p:spTree>
    <p:extLst>
      <p:ext uri="{BB962C8B-B14F-4D97-AF65-F5344CB8AC3E}">
        <p14:creationId xmlns:p14="http://schemas.microsoft.com/office/powerpoint/2010/main" val="3402852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Tags</a:t>
            </a:r>
          </a:p>
        </p:txBody>
      </p:sp>
      <p:sp>
        <p:nvSpPr>
          <p:cNvPr id="3" name="Content Placeholder 2"/>
          <p:cNvSpPr>
            <a:spLocks noGrp="1"/>
          </p:cNvSpPr>
          <p:nvPr>
            <p:ph idx="1"/>
          </p:nvPr>
        </p:nvSpPr>
        <p:spPr/>
        <p:txBody>
          <a:bodyPr/>
          <a:lstStyle/>
          <a:p>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 </a:t>
            </a:r>
            <a:r>
              <a:rPr lang="en-US" dirty="0"/>
              <a:t>or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a:t>
            </a:r>
          </a:p>
          <a:p>
            <a:r>
              <a:rPr lang="en-US" dirty="0"/>
              <a:t>Break tag is a self-closing tag which doesn't require an end tag</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22</a:t>
            </a:fld>
            <a:endParaRPr lang="en-US"/>
          </a:p>
        </p:txBody>
      </p:sp>
    </p:spTree>
    <p:extLst>
      <p:ext uri="{BB962C8B-B14F-4D97-AF65-F5344CB8AC3E}">
        <p14:creationId xmlns:p14="http://schemas.microsoft.com/office/powerpoint/2010/main" val="3777286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a:t>
            </a:r>
          </a:p>
        </p:txBody>
      </p:sp>
      <p:sp>
        <p:nvSpPr>
          <p:cNvPr id="3" name="Content Placeholder 2"/>
          <p:cNvSpPr>
            <a:spLocks noGrp="1"/>
          </p:cNvSpPr>
          <p:nvPr>
            <p:ph idx="1"/>
          </p:nvPr>
        </p:nvSpPr>
        <p:spPr/>
        <p:txBody>
          <a:bodyPr>
            <a:normAutofit/>
          </a:bodyPr>
          <a:lstStyle/>
          <a:p>
            <a:r>
              <a:rPr lang="en-US" dirty="0"/>
              <a:t>In our webpage we could have many links that navigate us to either:</a:t>
            </a:r>
          </a:p>
          <a:p>
            <a:pPr lvl="1"/>
            <a:r>
              <a:rPr lang="en-US" dirty="0"/>
              <a:t>a section in the same page</a:t>
            </a:r>
          </a:p>
          <a:p>
            <a:pPr lvl="1"/>
            <a:r>
              <a:rPr lang="en-US" dirty="0"/>
              <a:t>a different page</a:t>
            </a:r>
          </a:p>
          <a:p>
            <a:pPr lvl="1"/>
            <a:r>
              <a:rPr lang="en-US" dirty="0"/>
              <a:t>an external website</a:t>
            </a:r>
          </a:p>
          <a:p>
            <a:r>
              <a:rPr lang="en-US" dirty="0"/>
              <a:t>This action can be created with the help of </a:t>
            </a:r>
            <a:r>
              <a:rPr lang="en-US" dirty="0">
                <a:solidFill>
                  <a:srgbClr val="FF0000"/>
                </a:solidFill>
                <a:effectLst>
                  <a:outerShdw blurRad="38100" dist="38100" dir="2700000" algn="tl">
                    <a:srgbClr val="000000">
                      <a:alpha val="43137"/>
                    </a:srgbClr>
                  </a:outerShdw>
                </a:effectLst>
              </a:rPr>
              <a:t>&lt;a&gt;</a:t>
            </a:r>
            <a:r>
              <a:rPr lang="en-US" dirty="0"/>
              <a:t> tag</a:t>
            </a:r>
          </a:p>
          <a:p>
            <a:r>
              <a:rPr lang="en-US" dirty="0"/>
              <a:t>This tag is also called as </a:t>
            </a:r>
            <a:r>
              <a:rPr lang="en-US" dirty="0">
                <a:effectLst>
                  <a:outerShdw blurRad="38100" dist="38100" dir="2700000" algn="tl">
                    <a:srgbClr val="000000">
                      <a:alpha val="43137"/>
                    </a:srgbClr>
                  </a:outerShdw>
                </a:effectLst>
              </a:rPr>
              <a:t>hyperlink</a:t>
            </a:r>
            <a:r>
              <a:rPr lang="en-US" dirty="0"/>
              <a:t> tag</a:t>
            </a:r>
          </a:p>
          <a:p>
            <a:r>
              <a:rPr lang="en-US" dirty="0"/>
              <a:t>Anchor tag should always be declared along with its attribute – </a:t>
            </a:r>
            <a:r>
              <a:rPr lang="en-US" dirty="0" err="1">
                <a:solidFill>
                  <a:srgbClr val="E44D26"/>
                </a:solidFill>
                <a:effectLst>
                  <a:outerShdw blurRad="38100" dist="38100" dir="2700000" algn="tl">
                    <a:srgbClr val="000000">
                      <a:alpha val="43137"/>
                    </a:srgbClr>
                  </a:outerShdw>
                </a:effectLst>
              </a:rPr>
              <a:t>href</a:t>
            </a:r>
            <a:endParaRPr lang="en-US" dirty="0">
              <a:solidFill>
                <a:srgbClr val="E44D26"/>
              </a:solidFill>
              <a:effectLst>
                <a:outerShdw blurRad="38100" dist="38100" dir="2700000" algn="tl">
                  <a:srgbClr val="000000">
                    <a:alpha val="43137"/>
                  </a:srgbClr>
                </a:outerShdw>
              </a:effectLst>
            </a:endParaRPr>
          </a:p>
          <a:p>
            <a:r>
              <a:rPr lang="en-US" dirty="0" err="1">
                <a:solidFill>
                  <a:srgbClr val="E44D26"/>
                </a:solidFill>
                <a:effectLst>
                  <a:outerShdw blurRad="38100" dist="38100" dir="2700000" algn="tl">
                    <a:srgbClr val="000000">
                      <a:alpha val="43137"/>
                    </a:srgbClr>
                  </a:outerShdw>
                </a:effectLst>
              </a:rPr>
              <a:t>href</a:t>
            </a:r>
            <a:r>
              <a:rPr lang="en-US" dirty="0"/>
              <a:t> stands for </a:t>
            </a:r>
            <a:r>
              <a:rPr lang="en-US" dirty="0">
                <a:effectLst>
                  <a:outerShdw blurRad="38100" dist="38100" dir="2700000" algn="tl">
                    <a:srgbClr val="000000">
                      <a:alpha val="43137"/>
                    </a:srgbClr>
                  </a:outerShdw>
                </a:effectLst>
              </a:rPr>
              <a:t>hyperlink reference</a:t>
            </a:r>
          </a:p>
          <a:p>
            <a:r>
              <a:rPr lang="en-US" dirty="0"/>
              <a:t>The value of </a:t>
            </a:r>
            <a:r>
              <a:rPr lang="en-US" dirty="0" err="1">
                <a:solidFill>
                  <a:srgbClr val="E44D26"/>
                </a:solidFill>
                <a:effectLst>
                  <a:outerShdw blurRad="38100" dist="38100" dir="2700000" algn="tl">
                    <a:srgbClr val="000000">
                      <a:alpha val="43137"/>
                    </a:srgbClr>
                  </a:outerShdw>
                </a:effectLst>
              </a:rPr>
              <a:t>href</a:t>
            </a:r>
            <a:r>
              <a:rPr lang="en-US" dirty="0"/>
              <a:t> holds the </a:t>
            </a:r>
            <a:r>
              <a:rPr lang="en-US" dirty="0">
                <a:effectLst>
                  <a:outerShdw blurRad="38100" dist="38100" dir="2700000" algn="tl">
                    <a:srgbClr val="000000">
                      <a:alpha val="43137"/>
                    </a:srgbClr>
                  </a:outerShdw>
                </a:effectLst>
              </a:rPr>
              <a:t>target link</a:t>
            </a:r>
            <a:endParaRPr lang="en-US" dirty="0">
              <a:solidFill>
                <a:srgbClr val="E44D26"/>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23</a:t>
            </a:fld>
            <a:endParaRPr lang="en-US"/>
          </a:p>
        </p:txBody>
      </p:sp>
    </p:spTree>
    <p:extLst>
      <p:ext uri="{BB962C8B-B14F-4D97-AF65-F5344CB8AC3E}">
        <p14:creationId xmlns:p14="http://schemas.microsoft.com/office/powerpoint/2010/main" val="3810613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a:t>
            </a:r>
          </a:p>
        </p:txBody>
      </p:sp>
      <p:sp>
        <p:nvSpPr>
          <p:cNvPr id="3" name="Content Placeholder 2"/>
          <p:cNvSpPr>
            <a:spLocks noGrp="1"/>
          </p:cNvSpPr>
          <p:nvPr>
            <p:ph idx="1"/>
          </p:nvPr>
        </p:nvSpPr>
        <p:spPr/>
        <p:txBody>
          <a:bodyPr/>
          <a:lstStyle/>
          <a:p>
            <a:pPr marL="0" indent="0">
              <a:buNone/>
            </a:pPr>
            <a:r>
              <a:rPr lang="en-US" dirty="0"/>
              <a:t>	Syntax: </a:t>
            </a:r>
            <a:r>
              <a:rPr lang="en-US" dirty="0">
                <a:solidFill>
                  <a:srgbClr val="FF0000"/>
                </a:solidFill>
                <a:effectLst>
                  <a:outerShdw blurRad="38100" dist="38100" dir="2700000" algn="tl">
                    <a:srgbClr val="000000">
                      <a:alpha val="43137"/>
                    </a:srgbClr>
                  </a:outerShdw>
                </a:effectLst>
              </a:rPr>
              <a:t>&lt;a </a:t>
            </a:r>
            <a:r>
              <a:rPr lang="en-US" dirty="0" err="1">
                <a:solidFill>
                  <a:srgbClr val="FF0000"/>
                </a:solidFill>
                <a:effectLst>
                  <a:outerShdw blurRad="38100" dist="38100" dir="2700000" algn="tl">
                    <a:srgbClr val="000000">
                      <a:alpha val="43137"/>
                    </a:srgbClr>
                  </a:outerShdw>
                </a:effectLst>
              </a:rPr>
              <a:t>href</a:t>
            </a:r>
            <a:r>
              <a:rPr lang="en-US" dirty="0">
                <a:solidFill>
                  <a:srgbClr val="FF0000"/>
                </a:solidFill>
                <a:effectLst>
                  <a:outerShdw blurRad="38100" dist="38100" dir="2700000" algn="tl">
                    <a:srgbClr val="000000">
                      <a:alpha val="43137"/>
                    </a:srgbClr>
                  </a:outerShdw>
                </a:effectLst>
              </a:rPr>
              <a:t>="target link"&gt; </a:t>
            </a:r>
            <a:r>
              <a:rPr lang="en-US" dirty="0">
                <a:solidFill>
                  <a:srgbClr val="0066FF"/>
                </a:solidFill>
                <a:effectLst>
                  <a:outerShdw blurRad="38100" dist="38100" dir="2700000" algn="tl">
                    <a:srgbClr val="000000">
                      <a:alpha val="43137"/>
                    </a:srgbClr>
                  </a:outerShdw>
                </a:effectLst>
              </a:rPr>
              <a:t>content</a:t>
            </a:r>
            <a:r>
              <a:rPr lang="en-US" dirty="0">
                <a:solidFill>
                  <a:srgbClr val="FF0000"/>
                </a:solidFill>
                <a:effectLst>
                  <a:outerShdw blurRad="38100" dist="38100" dir="2700000" algn="tl">
                    <a:srgbClr val="000000">
                      <a:alpha val="43137"/>
                    </a:srgbClr>
                  </a:outerShdw>
                </a:effectLst>
              </a:rPr>
              <a:t> &lt;/a&gt;</a:t>
            </a:r>
          </a:p>
          <a:p>
            <a:pPr marL="0" indent="0">
              <a:buNone/>
            </a:pPr>
            <a:endParaRPr lang="en-US" dirty="0">
              <a:solidFill>
                <a:srgbClr val="FF0000"/>
              </a:solidFill>
              <a:effectLst>
                <a:outerShdw blurRad="38100" dist="38100" dir="2700000" algn="tl">
                  <a:srgbClr val="000000">
                    <a:alpha val="43137"/>
                  </a:srgbClr>
                </a:outerShdw>
              </a:effectLst>
            </a:endParaRPr>
          </a:p>
          <a:p>
            <a:r>
              <a:rPr lang="en-US" dirty="0"/>
              <a:t>The content within the Anchor tag is clickable</a:t>
            </a:r>
          </a:p>
          <a:p>
            <a:r>
              <a:rPr lang="en-US" dirty="0"/>
              <a:t>By clicking on this text, we will be </a:t>
            </a:r>
            <a:r>
              <a:rPr lang="en-US" dirty="0">
                <a:effectLst>
                  <a:outerShdw blurRad="38100" dist="38100" dir="2700000" algn="tl">
                    <a:srgbClr val="000000">
                      <a:alpha val="43137"/>
                    </a:srgbClr>
                  </a:outerShdw>
                </a:effectLst>
              </a:rPr>
              <a:t>redirected</a:t>
            </a:r>
            <a:r>
              <a:rPr lang="en-US" dirty="0"/>
              <a:t> to the targeted link</a:t>
            </a:r>
          </a:p>
          <a:p>
            <a:r>
              <a:rPr lang="en-US" dirty="0"/>
              <a:t>The content can be a </a:t>
            </a:r>
            <a:r>
              <a:rPr lang="en-US" dirty="0">
                <a:effectLst>
                  <a:outerShdw blurRad="38100" dist="38100" dir="2700000" algn="tl">
                    <a:srgbClr val="000000">
                      <a:alpha val="43137"/>
                    </a:srgbClr>
                  </a:outerShdw>
                </a:effectLst>
              </a:rPr>
              <a:t>text</a:t>
            </a:r>
            <a:r>
              <a:rPr lang="en-US" dirty="0"/>
              <a:t> or an </a:t>
            </a:r>
            <a:r>
              <a:rPr lang="en-US" dirty="0">
                <a:effectLst>
                  <a:outerShdw blurRad="38100" dist="38100" dir="2700000" algn="tl">
                    <a:srgbClr val="000000">
                      <a:alpha val="43137"/>
                    </a:srgbClr>
                  </a:outerShdw>
                </a:effectLst>
              </a:rPr>
              <a:t>image</a:t>
            </a:r>
          </a:p>
          <a:p>
            <a:endParaRPr lang="en-US" dirty="0">
              <a:effectLst>
                <a:outerShdw blurRad="38100" dist="38100" dir="2700000" algn="tl">
                  <a:srgbClr val="000000">
                    <a:alpha val="43137"/>
                  </a:srgbClr>
                </a:outerShdw>
              </a:effectLst>
            </a:endParaRPr>
          </a:p>
          <a:p>
            <a:pPr marL="0" indent="0" algn="ctr">
              <a:buNone/>
            </a:pPr>
            <a:r>
              <a:rPr lang="en-US" sz="2400" i="1" dirty="0">
                <a:solidFill>
                  <a:srgbClr val="0066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redirecting link make sure that the specified HTML file is available in the same folder or with full path]</a:t>
            </a:r>
            <a:endParaRPr lang="en-US" i="1" dirty="0">
              <a:solidFill>
                <a:srgbClr val="0066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24</a:t>
            </a:fld>
            <a:endParaRPr lang="en-US"/>
          </a:p>
        </p:txBody>
      </p:sp>
    </p:spTree>
    <p:extLst>
      <p:ext uri="{BB962C8B-B14F-4D97-AF65-F5344CB8AC3E}">
        <p14:creationId xmlns:p14="http://schemas.microsoft.com/office/powerpoint/2010/main" val="1440665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 - </a:t>
            </a:r>
            <a:r>
              <a:rPr lang="en-US" dirty="0">
                <a:effectLst>
                  <a:outerShdw blurRad="38100" dist="38100" dir="2700000" algn="tl">
                    <a:srgbClr val="000000">
                      <a:alpha val="43137"/>
                    </a:srgbClr>
                  </a:outerShdw>
                </a:effectLst>
              </a:rPr>
              <a:t>target</a:t>
            </a:r>
          </a:p>
        </p:txBody>
      </p:sp>
      <p:sp>
        <p:nvSpPr>
          <p:cNvPr id="3" name="Content Placeholder 2"/>
          <p:cNvSpPr>
            <a:spLocks noGrp="1"/>
          </p:cNvSpPr>
          <p:nvPr>
            <p:ph idx="1"/>
          </p:nvPr>
        </p:nvSpPr>
        <p:spPr/>
        <p:txBody>
          <a:bodyPr>
            <a:normAutofit/>
          </a:bodyPr>
          <a:lstStyle/>
          <a:p>
            <a:pPr algn="just"/>
            <a:r>
              <a:rPr lang="en-US" dirty="0">
                <a:effectLst>
                  <a:outerShdw blurRad="38100" dist="38100" dir="2700000" algn="tl">
                    <a:srgbClr val="000000">
                      <a:alpha val="43137"/>
                    </a:srgbClr>
                  </a:outerShdw>
                </a:effectLst>
              </a:rPr>
              <a:t>target</a:t>
            </a:r>
            <a:r>
              <a:rPr lang="en-US" dirty="0"/>
              <a:t> is an another important attribute for the anchor tag</a:t>
            </a:r>
          </a:p>
          <a:p>
            <a:pPr algn="just"/>
            <a:r>
              <a:rPr lang="en-US" dirty="0"/>
              <a:t>It species where the target has to be redirected</a:t>
            </a:r>
          </a:p>
          <a:p>
            <a:pPr algn="just"/>
            <a:r>
              <a:rPr lang="en-US" dirty="0"/>
              <a:t>The values are</a:t>
            </a:r>
          </a:p>
          <a:p>
            <a:pPr lvl="1" algn="just"/>
            <a:r>
              <a:rPr lang="en-US" dirty="0"/>
              <a:t> </a:t>
            </a:r>
            <a:r>
              <a:rPr lang="en-US" dirty="0">
                <a:solidFill>
                  <a:srgbClr val="FF0000"/>
                </a:solidFill>
                <a:effectLst>
                  <a:outerShdw blurRad="38100" dist="38100" dir="2700000" algn="tl">
                    <a:srgbClr val="000000">
                      <a:alpha val="43137"/>
                    </a:srgbClr>
                  </a:outerShdw>
                </a:effectLst>
              </a:rPr>
              <a:t>_blank</a:t>
            </a:r>
            <a:r>
              <a:rPr lang="en-US" dirty="0"/>
              <a:t>: Opens in a new tab</a:t>
            </a:r>
          </a:p>
          <a:p>
            <a:pPr lvl="1" algn="just"/>
            <a:r>
              <a:rPr lang="en-US" dirty="0"/>
              <a:t> </a:t>
            </a:r>
            <a:r>
              <a:rPr lang="en-US" dirty="0">
                <a:solidFill>
                  <a:srgbClr val="FF0000"/>
                </a:solidFill>
                <a:effectLst>
                  <a:outerShdw blurRad="38100" dist="38100" dir="2700000" algn="tl">
                    <a:srgbClr val="000000">
                      <a:alpha val="43137"/>
                    </a:srgbClr>
                  </a:outerShdw>
                </a:effectLst>
              </a:rPr>
              <a:t>_parent</a:t>
            </a:r>
            <a:r>
              <a:rPr lang="en-US" dirty="0"/>
              <a:t>: Opens in the parent frame</a:t>
            </a:r>
          </a:p>
          <a:p>
            <a:pPr lvl="1" algn="just"/>
            <a:r>
              <a:rPr lang="en-US" dirty="0"/>
              <a:t> </a:t>
            </a:r>
            <a:r>
              <a:rPr lang="en-US" dirty="0">
                <a:solidFill>
                  <a:srgbClr val="FF0000"/>
                </a:solidFill>
                <a:effectLst>
                  <a:outerShdw blurRad="38100" dist="38100" dir="2700000" algn="tl">
                    <a:srgbClr val="000000">
                      <a:alpha val="43137"/>
                    </a:srgbClr>
                  </a:outerShdw>
                </a:effectLst>
              </a:rPr>
              <a:t>_self</a:t>
            </a:r>
            <a:r>
              <a:rPr lang="en-US" dirty="0"/>
              <a:t>: Opens in the same frame</a:t>
            </a:r>
          </a:p>
          <a:p>
            <a:pPr lvl="1" algn="just"/>
            <a:r>
              <a:rPr lang="en-US" dirty="0"/>
              <a:t> </a:t>
            </a:r>
            <a:r>
              <a:rPr lang="en-US" dirty="0">
                <a:solidFill>
                  <a:srgbClr val="FF0000"/>
                </a:solidFill>
                <a:effectLst>
                  <a:outerShdw blurRad="38100" dist="38100" dir="2700000" algn="tl">
                    <a:srgbClr val="000000">
                      <a:alpha val="43137"/>
                    </a:srgbClr>
                  </a:outerShdw>
                </a:effectLst>
              </a:rPr>
              <a:t>_top</a:t>
            </a:r>
            <a:r>
              <a:rPr lang="en-US" dirty="0"/>
              <a:t>: Opens in the full body of the window</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25</a:t>
            </a:fld>
            <a:endParaRPr lang="en-US"/>
          </a:p>
        </p:txBody>
      </p:sp>
    </p:spTree>
    <p:extLst>
      <p:ext uri="{BB962C8B-B14F-4D97-AF65-F5344CB8AC3E}">
        <p14:creationId xmlns:p14="http://schemas.microsoft.com/office/powerpoint/2010/main" val="447585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Styles</a:t>
            </a:r>
          </a:p>
        </p:txBody>
      </p:sp>
      <p:sp>
        <p:nvSpPr>
          <p:cNvPr id="3" name="Content Placeholder 2"/>
          <p:cNvSpPr>
            <a:spLocks noGrp="1"/>
          </p:cNvSpPr>
          <p:nvPr>
            <p:ph idx="1"/>
          </p:nvPr>
        </p:nvSpPr>
        <p:spPr/>
        <p:txBody>
          <a:bodyPr>
            <a:normAutofit/>
          </a:bodyPr>
          <a:lstStyle/>
          <a:p>
            <a:pPr algn="just">
              <a:lnSpc>
                <a:spcPct val="150000"/>
              </a:lnSpc>
            </a:pPr>
            <a:r>
              <a:rPr lang="en-US" dirty="0"/>
              <a:t>Allows us to define the presentation of the HTML Elements</a:t>
            </a:r>
          </a:p>
          <a:p>
            <a:pPr algn="just">
              <a:lnSpc>
                <a:spcPct val="150000"/>
              </a:lnSpc>
            </a:pPr>
            <a:r>
              <a:rPr lang="en-US" dirty="0"/>
              <a:t>Defined in 3 ways:</a:t>
            </a:r>
          </a:p>
          <a:p>
            <a:pPr lvl="1" algn="just">
              <a:lnSpc>
                <a:spcPct val="150000"/>
              </a:lnSpc>
            </a:pPr>
            <a:r>
              <a:rPr lang="en-US" dirty="0"/>
              <a:t>Inline </a:t>
            </a:r>
            <a:r>
              <a:rPr lang="en-US" dirty="0">
                <a:effectLst>
                  <a:outerShdw blurRad="38100" dist="38100" dir="2700000" algn="tl">
                    <a:srgbClr val="000000">
                      <a:alpha val="43137"/>
                    </a:srgbClr>
                  </a:outerShdw>
                </a:effectLst>
              </a:rPr>
              <a:t>attribute</a:t>
            </a:r>
            <a:r>
              <a:rPr lang="en-US" dirty="0"/>
              <a:t> for the tags</a:t>
            </a:r>
          </a:p>
          <a:p>
            <a:pPr lvl="1" algn="just">
              <a:lnSpc>
                <a:spcPct val="150000"/>
              </a:lnSpc>
            </a:pPr>
            <a:r>
              <a:rPr lang="en-US" dirty="0"/>
              <a:t>Individual </a:t>
            </a:r>
            <a:r>
              <a:rPr lang="en-US" dirty="0">
                <a:effectLst>
                  <a:outerShdw blurRad="38100" dist="38100" dir="2700000" algn="tl">
                    <a:srgbClr val="000000">
                      <a:alpha val="43137"/>
                    </a:srgbClr>
                  </a:outerShdw>
                </a:effectLst>
              </a:rPr>
              <a:t>tag</a:t>
            </a:r>
          </a:p>
          <a:p>
            <a:pPr lvl="1" algn="just">
              <a:lnSpc>
                <a:spcPct val="150000"/>
              </a:lnSpc>
            </a:pPr>
            <a:r>
              <a:rPr lang="en-US" dirty="0">
                <a:effectLst>
                  <a:outerShdw blurRad="38100" dist="38100" dir="2700000" algn="tl">
                    <a:srgbClr val="000000">
                      <a:alpha val="43137"/>
                    </a:srgbClr>
                  </a:outerShdw>
                </a:effectLst>
              </a:rPr>
              <a:t>External style sheet </a:t>
            </a:r>
            <a:r>
              <a:rPr lang="en-US" dirty="0"/>
              <a:t>(CSS)</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26</a:t>
            </a:fld>
            <a:endParaRPr lang="en-US"/>
          </a:p>
        </p:txBody>
      </p:sp>
    </p:spTree>
    <p:extLst>
      <p:ext uri="{BB962C8B-B14F-4D97-AF65-F5344CB8AC3E}">
        <p14:creationId xmlns:p14="http://schemas.microsoft.com/office/powerpoint/2010/main" val="743683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Attribute</a:t>
            </a:r>
          </a:p>
        </p:txBody>
      </p:sp>
      <p:sp>
        <p:nvSpPr>
          <p:cNvPr id="3" name="Content Placeholder 2"/>
          <p:cNvSpPr>
            <a:spLocks noGrp="1"/>
          </p:cNvSpPr>
          <p:nvPr>
            <p:ph idx="1"/>
          </p:nvPr>
        </p:nvSpPr>
        <p:spPr/>
        <p:txBody>
          <a:bodyPr/>
          <a:lstStyle/>
          <a:p>
            <a:pPr algn="just"/>
            <a:r>
              <a:rPr lang="en-US" dirty="0"/>
              <a:t>Style is an </a:t>
            </a:r>
            <a:r>
              <a:rPr lang="en-US" dirty="0">
                <a:effectLst>
                  <a:outerShdw blurRad="38100" dist="38100" dir="2700000" algn="tl">
                    <a:srgbClr val="000000">
                      <a:alpha val="43137"/>
                    </a:srgbClr>
                  </a:outerShdw>
                </a:effectLst>
              </a:rPr>
              <a:t>attribute</a:t>
            </a:r>
            <a:r>
              <a:rPr lang="en-US" dirty="0"/>
              <a:t> that specifies the style of an element</a:t>
            </a:r>
          </a:p>
          <a:p>
            <a:pPr lvl="1" algn="just"/>
            <a:r>
              <a:rPr lang="en-US" dirty="0"/>
              <a:t>For </a:t>
            </a:r>
            <a:r>
              <a:rPr lang="en-US" dirty="0" err="1"/>
              <a:t>eg</a:t>
            </a:r>
            <a:r>
              <a:rPr lang="en-US" dirty="0"/>
              <a:t>: </a:t>
            </a:r>
            <a:r>
              <a:rPr lang="en-US" dirty="0">
                <a:solidFill>
                  <a:srgbClr val="C00000"/>
                </a:solidFill>
              </a:rPr>
              <a:t>font-family, font-size, </a:t>
            </a:r>
            <a:r>
              <a:rPr lang="en-US" dirty="0" err="1">
                <a:solidFill>
                  <a:srgbClr val="C00000"/>
                </a:solidFill>
              </a:rPr>
              <a:t>colour</a:t>
            </a:r>
            <a:r>
              <a:rPr lang="en-US" dirty="0">
                <a:solidFill>
                  <a:srgbClr val="C00000"/>
                </a:solidFill>
              </a:rPr>
              <a:t>, etc</a:t>
            </a:r>
            <a:r>
              <a:rPr lang="en-US" dirty="0"/>
              <a:t>.</a:t>
            </a:r>
          </a:p>
          <a:p>
            <a:pPr lvl="1" algn="just"/>
            <a:r>
              <a:rPr lang="en-US" dirty="0"/>
              <a:t>Style attribute decides how the content will be displayed</a:t>
            </a:r>
          </a:p>
          <a:p>
            <a:pPr lvl="1" algn="just"/>
            <a:r>
              <a:rPr lang="en-US" dirty="0"/>
              <a:t>Once the style attribute is declared for a tag, it will </a:t>
            </a:r>
            <a:r>
              <a:rPr lang="en-US" dirty="0">
                <a:solidFill>
                  <a:srgbClr val="FF0000"/>
                </a:solidFill>
                <a:effectLst>
                  <a:outerShdw blurRad="38100" dist="38100" dir="2700000" algn="tl">
                    <a:srgbClr val="000000">
                      <a:alpha val="43137"/>
                    </a:srgbClr>
                  </a:outerShdw>
                </a:effectLst>
              </a:rPr>
              <a:t>override</a:t>
            </a:r>
            <a:r>
              <a:rPr lang="en-US" dirty="0"/>
              <a:t> the existing property</a:t>
            </a:r>
          </a:p>
          <a:p>
            <a:pPr marL="0" indent="0">
              <a:buNone/>
            </a:pPr>
            <a:r>
              <a:rPr lang="en-US" sz="2400" dirty="0"/>
              <a:t>    Syntax:</a:t>
            </a:r>
            <a:r>
              <a:rPr lang="en-US" dirty="0"/>
              <a:t> </a:t>
            </a:r>
            <a:r>
              <a:rPr lang="en-US" sz="2400" dirty="0">
                <a:solidFill>
                  <a:srgbClr val="FF0000"/>
                </a:solidFill>
                <a:effectLst>
                  <a:outerShdw blurRad="38100" dist="38100" dir="2700000" algn="tl">
                    <a:srgbClr val="000000">
                      <a:alpha val="43137"/>
                    </a:srgbClr>
                  </a:outerShdw>
                </a:effectLst>
              </a:rPr>
              <a:t>&lt;tag-name style = "</a:t>
            </a:r>
            <a:r>
              <a:rPr lang="en-US" sz="2400" dirty="0" err="1">
                <a:solidFill>
                  <a:srgbClr val="FF0000"/>
                </a:solidFill>
                <a:effectLst>
                  <a:outerShdw blurRad="38100" dist="38100" dir="2700000" algn="tl">
                    <a:srgbClr val="000000">
                      <a:alpha val="43137"/>
                    </a:srgbClr>
                  </a:outerShdw>
                </a:effectLst>
              </a:rPr>
              <a:t>Property-Name:Value</a:t>
            </a:r>
            <a:r>
              <a:rPr lang="en-US" sz="2400" dirty="0">
                <a:solidFill>
                  <a:srgbClr val="FF0000"/>
                </a:solidFill>
                <a:effectLst>
                  <a:outerShdw blurRad="38100" dist="38100" dir="2700000" algn="tl">
                    <a:srgbClr val="000000">
                      <a:alpha val="43137"/>
                    </a:srgbClr>
                  </a:outerShdw>
                </a:effectLst>
              </a:rPr>
              <a:t>"&gt; </a:t>
            </a:r>
            <a:r>
              <a:rPr lang="en-US" sz="2400" dirty="0">
                <a:solidFill>
                  <a:srgbClr val="0066FF"/>
                </a:solidFill>
                <a:effectLst>
                  <a:outerShdw blurRad="38100" dist="38100" dir="2700000" algn="tl">
                    <a:srgbClr val="000000">
                      <a:alpha val="43137"/>
                    </a:srgbClr>
                  </a:outerShdw>
                </a:effectLst>
              </a:rPr>
              <a:t>content </a:t>
            </a:r>
            <a:r>
              <a:rPr lang="en-US" sz="2400" dirty="0">
                <a:solidFill>
                  <a:srgbClr val="FF0000"/>
                </a:solidFill>
                <a:effectLst>
                  <a:outerShdw blurRad="38100" dist="38100" dir="2700000" algn="tl">
                    <a:srgbClr val="000000">
                      <a:alpha val="43137"/>
                    </a:srgbClr>
                  </a:outerShdw>
                </a:effectLst>
              </a:rPr>
              <a:t>&lt;/tag-name&gt;</a:t>
            </a:r>
            <a:endParaRPr lang="en-US" dirty="0"/>
          </a:p>
          <a:p>
            <a:r>
              <a:rPr lang="en-US" dirty="0"/>
              <a:t>We can add more properties with the help of semi-colon</a:t>
            </a:r>
          </a:p>
          <a:p>
            <a:pPr marL="0" indent="0">
              <a:buNone/>
            </a:pPr>
            <a:r>
              <a:rPr lang="en-US" sz="2400" dirty="0"/>
              <a:t>      </a:t>
            </a:r>
            <a:r>
              <a:rPr lang="en-US" sz="2400" dirty="0">
                <a:solidFill>
                  <a:srgbClr val="FF0000"/>
                </a:solidFill>
                <a:effectLst>
                  <a:outerShdw blurRad="38100" dist="38100" dir="2700000" algn="tl">
                    <a:srgbClr val="000000">
                      <a:alpha val="43137"/>
                    </a:srgbClr>
                  </a:outerShdw>
                </a:effectLst>
              </a:rPr>
              <a:t>&lt;tag-name style = "</a:t>
            </a:r>
            <a:r>
              <a:rPr lang="en-US" sz="2400" dirty="0">
                <a:solidFill>
                  <a:srgbClr val="FF33CC"/>
                </a:solidFill>
                <a:effectLst>
                  <a:outerShdw blurRad="38100" dist="38100" dir="2700000" algn="tl">
                    <a:srgbClr val="000000">
                      <a:alpha val="43137"/>
                    </a:srgbClr>
                  </a:outerShdw>
                </a:effectLst>
              </a:rPr>
              <a:t>Property1:Value</a:t>
            </a:r>
            <a:r>
              <a:rPr lang="en-US" sz="2400" dirty="0">
                <a:solidFill>
                  <a:srgbClr val="FF0000"/>
                </a:solidFill>
                <a:effectLst>
                  <a:outerShdw blurRad="38100" dist="38100" dir="2700000" algn="tl">
                    <a:srgbClr val="000000">
                      <a:alpha val="43137"/>
                    </a:srgbClr>
                  </a:outerShdw>
                </a:effectLst>
              </a:rPr>
              <a:t>; </a:t>
            </a:r>
            <a:r>
              <a:rPr lang="en-US" sz="2400" dirty="0">
                <a:solidFill>
                  <a:srgbClr val="FF33CC"/>
                </a:solidFill>
                <a:effectLst>
                  <a:outerShdw blurRad="38100" dist="38100" dir="2700000" algn="tl">
                    <a:srgbClr val="000000">
                      <a:alpha val="43137"/>
                    </a:srgbClr>
                  </a:outerShdw>
                </a:effectLst>
              </a:rPr>
              <a:t>Property2:Value</a:t>
            </a:r>
            <a:r>
              <a:rPr lang="en-US" sz="2400" dirty="0">
                <a:solidFill>
                  <a:srgbClr val="FF0000"/>
                </a:solidFill>
                <a:effectLst>
                  <a:outerShdw blurRad="38100" dist="38100" dir="2700000" algn="tl">
                    <a:srgbClr val="000000">
                      <a:alpha val="43137"/>
                    </a:srgbClr>
                  </a:outerShdw>
                </a:effectLst>
              </a:rPr>
              <a:t>"&gt; </a:t>
            </a:r>
            <a:r>
              <a:rPr lang="en-US" sz="2400" dirty="0">
                <a:solidFill>
                  <a:srgbClr val="0066FF"/>
                </a:solidFill>
                <a:effectLst>
                  <a:outerShdw blurRad="38100" dist="38100" dir="2700000" algn="tl">
                    <a:srgbClr val="000000">
                      <a:alpha val="43137"/>
                    </a:srgbClr>
                  </a:outerShdw>
                </a:effectLst>
              </a:rPr>
              <a:t>content</a:t>
            </a:r>
            <a:r>
              <a:rPr lang="en-US" sz="2400" dirty="0">
                <a:solidFill>
                  <a:srgbClr val="FF0000"/>
                </a:solidFill>
                <a:effectLst>
                  <a:outerShdw blurRad="38100" dist="38100" dir="2700000" algn="tl">
                    <a:srgbClr val="000000">
                      <a:alpha val="43137"/>
                    </a:srgbClr>
                  </a:outerShdw>
                </a:effectLst>
              </a:rPr>
              <a:t> &lt;/tag-name&gt;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27</a:t>
            </a:fld>
            <a:endParaRPr lang="en-US"/>
          </a:p>
        </p:txBody>
      </p:sp>
    </p:spTree>
    <p:extLst>
      <p:ext uri="{BB962C8B-B14F-4D97-AF65-F5344CB8AC3E}">
        <p14:creationId xmlns:p14="http://schemas.microsoft.com/office/powerpoint/2010/main" val="3497077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Tag</a:t>
            </a:r>
          </a:p>
        </p:txBody>
      </p:sp>
      <p:sp>
        <p:nvSpPr>
          <p:cNvPr id="3" name="Content Placeholder 2"/>
          <p:cNvSpPr>
            <a:spLocks noGrp="1"/>
          </p:cNvSpPr>
          <p:nvPr>
            <p:ph idx="1"/>
          </p:nvPr>
        </p:nvSpPr>
        <p:spPr/>
        <p:txBody>
          <a:bodyPr/>
          <a:lstStyle/>
          <a:p>
            <a:pPr algn="just"/>
            <a:r>
              <a:rPr lang="en-US" dirty="0"/>
              <a:t>It defines the styles for the whole document</a:t>
            </a:r>
          </a:p>
          <a:p>
            <a:pPr algn="just"/>
            <a:r>
              <a:rPr lang="en-US" dirty="0"/>
              <a:t>We can have many style tags for a single document</a:t>
            </a:r>
          </a:p>
          <a:p>
            <a:pPr algn="just"/>
            <a:r>
              <a:rPr lang="en-US" dirty="0"/>
              <a:t>It has to be declared inside the head section</a:t>
            </a:r>
          </a:p>
          <a:p>
            <a:pPr algn="just"/>
            <a:r>
              <a:rPr lang="en-US" dirty="0"/>
              <a:t>It has both start and an end tags</a:t>
            </a:r>
          </a:p>
          <a:p>
            <a:pPr marL="0" indent="0" algn="just">
              <a:buNone/>
            </a:pPr>
            <a:r>
              <a:rPr lang="en-US" sz="2400" dirty="0"/>
              <a:t>           </a:t>
            </a:r>
            <a:r>
              <a:rPr lang="en-US" dirty="0"/>
              <a:t>syntax: </a:t>
            </a:r>
            <a:r>
              <a:rPr lang="en-US" dirty="0">
                <a:solidFill>
                  <a:srgbClr val="FF0000"/>
                </a:solidFill>
                <a:effectLst>
                  <a:outerShdw blurRad="38100" dist="38100" dir="2700000" algn="tl">
                    <a:srgbClr val="000000">
                      <a:alpha val="43137"/>
                    </a:srgbClr>
                  </a:outerShdw>
                </a:effectLst>
              </a:rPr>
              <a:t>&lt;style&gt; tag-name { </a:t>
            </a:r>
            <a:r>
              <a:rPr lang="en-US" dirty="0" err="1">
                <a:solidFill>
                  <a:srgbClr val="FF0000"/>
                </a:solidFill>
                <a:effectLst>
                  <a:outerShdw blurRad="38100" dist="38100" dir="2700000" algn="tl">
                    <a:srgbClr val="000000">
                      <a:alpha val="43137"/>
                    </a:srgbClr>
                  </a:outerShdw>
                </a:effectLst>
              </a:rPr>
              <a:t>property:value</a:t>
            </a:r>
            <a:r>
              <a:rPr lang="en-US" dirty="0">
                <a:solidFill>
                  <a:srgbClr val="FF0000"/>
                </a:solidFill>
                <a:effectLst>
                  <a:outerShdw blurRad="38100" dist="38100" dir="2700000" algn="tl">
                    <a:srgbClr val="000000">
                      <a:alpha val="43137"/>
                    </a:srgbClr>
                  </a:outerShdw>
                </a:effectLst>
              </a:rPr>
              <a:t>; } &lt;/style&gt;</a:t>
            </a:r>
          </a:p>
          <a:p>
            <a:pPr algn="just"/>
            <a:r>
              <a:rPr lang="en-US" dirty="0"/>
              <a:t>We can add styles for multiple tags</a:t>
            </a:r>
          </a:p>
          <a:p>
            <a:pPr algn="just"/>
            <a:r>
              <a:rPr lang="en-US" dirty="0"/>
              <a:t>Multiple attributes for the tags</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28</a:t>
            </a:fld>
            <a:endParaRPr lang="en-US"/>
          </a:p>
        </p:txBody>
      </p:sp>
    </p:spTree>
    <p:extLst>
      <p:ext uri="{BB962C8B-B14F-4D97-AF65-F5344CB8AC3E}">
        <p14:creationId xmlns:p14="http://schemas.microsoft.com/office/powerpoint/2010/main" val="2858474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Style Properties</a:t>
            </a:r>
          </a:p>
        </p:txBody>
      </p:sp>
      <p:sp>
        <p:nvSpPr>
          <p:cNvPr id="3" name="Content Placeholder 2"/>
          <p:cNvSpPr>
            <a:spLocks noGrp="1"/>
          </p:cNvSpPr>
          <p:nvPr>
            <p:ph idx="1"/>
          </p:nvPr>
        </p:nvSpPr>
        <p:spPr/>
        <p:txBody>
          <a:bodyPr>
            <a:normAutofit fontScale="92500" lnSpcReduction="20000"/>
          </a:bodyPr>
          <a:lstStyle/>
          <a:p>
            <a:r>
              <a:rPr lang="en-US" dirty="0">
                <a:effectLst>
                  <a:outerShdw blurRad="38100" dist="38100" dir="2700000" algn="tl">
                    <a:srgbClr val="000000">
                      <a:alpha val="43137"/>
                    </a:srgbClr>
                  </a:outerShdw>
                </a:effectLst>
              </a:rPr>
              <a:t>background-color</a:t>
            </a:r>
            <a:r>
              <a:rPr lang="en-US" dirty="0"/>
              <a:t> to set the background </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background-color:red</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color</a:t>
            </a:r>
            <a:r>
              <a:rPr lang="en-US" dirty="0"/>
              <a:t> to set the font color</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color:blue</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font-family</a:t>
            </a:r>
            <a:r>
              <a:rPr lang="en-US" dirty="0"/>
              <a:t> to set the font</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font-family:courier</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font-size</a:t>
            </a:r>
            <a:r>
              <a:rPr lang="en-US" dirty="0"/>
              <a:t> to set the font text size</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style="font-size:24px;"</a:t>
            </a:r>
          </a:p>
          <a:p>
            <a:r>
              <a:rPr lang="en-US" dirty="0">
                <a:effectLst>
                  <a:outerShdw blurRad="38100" dist="38100" dir="2700000" algn="tl">
                    <a:srgbClr val="000000">
                      <a:alpha val="43137"/>
                    </a:srgbClr>
                  </a:outerShdw>
                </a:effectLst>
              </a:rPr>
              <a:t>text-align</a:t>
            </a:r>
            <a:r>
              <a:rPr lang="en-US" dirty="0"/>
              <a:t> for text alignment</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text-align:right</a:t>
            </a:r>
            <a:r>
              <a:rPr lang="en-US"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29</a:t>
            </a:fld>
            <a:endParaRPr lang="en-US"/>
          </a:p>
        </p:txBody>
      </p:sp>
    </p:spTree>
    <p:extLst>
      <p:ext uri="{BB962C8B-B14F-4D97-AF65-F5344CB8AC3E}">
        <p14:creationId xmlns:p14="http://schemas.microsoft.com/office/powerpoint/2010/main" val="1739515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a:t>
            </a: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t>External styles are defined with the help of </a:t>
            </a:r>
            <a:r>
              <a:rPr lang="en-US" dirty="0">
                <a:solidFill>
                  <a:srgbClr val="FF0000"/>
                </a:solidFill>
                <a:effectLst>
                  <a:outerShdw blurRad="38100" dist="38100" dir="2700000" algn="tl">
                    <a:srgbClr val="000000">
                      <a:alpha val="43137"/>
                    </a:srgbClr>
                  </a:outerShdw>
                </a:effectLst>
              </a:rPr>
              <a:t>CSS</a:t>
            </a:r>
          </a:p>
          <a:p>
            <a:pPr algn="just">
              <a:lnSpc>
                <a:spcPct val="150000"/>
              </a:lnSpc>
            </a:pPr>
            <a:r>
              <a:rPr lang="en-US" dirty="0"/>
              <a:t>CSS - </a:t>
            </a:r>
            <a:r>
              <a:rPr lang="en-US" dirty="0">
                <a:solidFill>
                  <a:srgbClr val="FF0000"/>
                </a:solidFill>
                <a:effectLst>
                  <a:outerShdw blurRad="38100" dist="38100" dir="2700000" algn="tl">
                    <a:srgbClr val="000000">
                      <a:alpha val="43137"/>
                    </a:srgbClr>
                  </a:outerShdw>
                </a:effectLst>
              </a:rPr>
              <a:t>C</a:t>
            </a:r>
            <a:r>
              <a:rPr lang="en-US" dirty="0"/>
              <a:t>ascading </a:t>
            </a:r>
            <a:r>
              <a:rPr lang="en-US" dirty="0">
                <a:solidFill>
                  <a:srgbClr val="FF0000"/>
                </a:solidFill>
                <a:effectLst>
                  <a:outerShdw blurRad="38100" dist="38100" dir="2700000" algn="tl">
                    <a:srgbClr val="000000">
                      <a:alpha val="43137"/>
                    </a:srgbClr>
                  </a:outerShdw>
                </a:effectLst>
              </a:rPr>
              <a:t>S</a:t>
            </a:r>
            <a:r>
              <a:rPr lang="en-US" dirty="0"/>
              <a:t>tyle </a:t>
            </a:r>
            <a:r>
              <a:rPr lang="en-US" dirty="0">
                <a:solidFill>
                  <a:srgbClr val="FF0000"/>
                </a:solidFill>
                <a:effectLst>
                  <a:outerShdw blurRad="38100" dist="38100" dir="2700000" algn="tl">
                    <a:srgbClr val="000000">
                      <a:alpha val="43137"/>
                    </a:srgbClr>
                  </a:outerShdw>
                </a:effectLst>
              </a:rPr>
              <a:t>S</a:t>
            </a:r>
            <a:r>
              <a:rPr lang="en-US" dirty="0"/>
              <a:t>heet is a Single file, which can define the </a:t>
            </a:r>
            <a:r>
              <a:rPr lang="fr-FR" dirty="0"/>
              <a:t>styles for multiple HTML pages</a:t>
            </a:r>
          </a:p>
          <a:p>
            <a:pPr algn="just">
              <a:lnSpc>
                <a:spcPct val="150000"/>
              </a:lnSpc>
            </a:pPr>
            <a:r>
              <a:rPr lang="en-US" dirty="0"/>
              <a:t>CSS file will not have any HTML code</a:t>
            </a:r>
          </a:p>
          <a:p>
            <a:pPr>
              <a:lnSpc>
                <a:spcPct val="150000"/>
              </a:lnSpc>
            </a:pPr>
            <a:r>
              <a:rPr lang="en-US" dirty="0"/>
              <a:t>Include the CSS file in the head section with the help of link tag</a:t>
            </a:r>
          </a:p>
          <a:p>
            <a:pPr marL="0" indent="0">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&lt;link </a:t>
            </a:r>
            <a:r>
              <a:rPr lang="en-US" dirty="0" err="1">
                <a:solidFill>
                  <a:srgbClr val="FF0000"/>
                </a:solidFill>
                <a:effectLst>
                  <a:outerShdw blurRad="38100" dist="38100" dir="2700000" algn="tl">
                    <a:srgbClr val="000000">
                      <a:alpha val="43137"/>
                    </a:srgbClr>
                  </a:outerShdw>
                </a:effectLst>
              </a:rPr>
              <a:t>rel</a:t>
            </a:r>
            <a:r>
              <a:rPr lang="en-US" dirty="0">
                <a:solidFill>
                  <a:srgbClr val="FF0000"/>
                </a:solidFill>
                <a:effectLst>
                  <a:outerShdw blurRad="38100" dist="38100" dir="2700000" algn="tl">
                    <a:srgbClr val="000000">
                      <a:alpha val="43137"/>
                    </a:srgbClr>
                  </a:outerShdw>
                </a:effectLst>
              </a:rPr>
              <a:t> = "stylesheet" </a:t>
            </a:r>
            <a:r>
              <a:rPr lang="en-US" dirty="0" err="1">
                <a:solidFill>
                  <a:srgbClr val="FF0000"/>
                </a:solidFill>
                <a:effectLst>
                  <a:outerShdw blurRad="38100" dist="38100" dir="2700000" algn="tl">
                    <a:srgbClr val="000000">
                      <a:alpha val="43137"/>
                    </a:srgbClr>
                  </a:outerShdw>
                </a:effectLst>
              </a:rPr>
              <a:t>href</a:t>
            </a:r>
            <a:r>
              <a:rPr lang="en-US" dirty="0">
                <a:solidFill>
                  <a:srgbClr val="FF0000"/>
                </a:solidFill>
                <a:effectLst>
                  <a:outerShdw blurRad="38100" dist="38100" dir="2700000" algn="tl">
                    <a:srgbClr val="000000">
                      <a:alpha val="43137"/>
                    </a:srgbClr>
                  </a:outerShdw>
                </a:effectLst>
              </a:rPr>
              <a:t> = "filename.css"&gt;</a:t>
            </a:r>
          </a:p>
          <a:p>
            <a:pPr>
              <a:lnSpc>
                <a:spcPct val="150000"/>
              </a:lnSpc>
            </a:pPr>
            <a:endParaRPr lang="en-US" dirty="0"/>
          </a:p>
          <a:p>
            <a:pPr>
              <a:lnSpc>
                <a:spcPct val="150000"/>
              </a:lnSpc>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30</a:t>
            </a:fld>
            <a:endParaRPr lang="en-US"/>
          </a:p>
        </p:txBody>
      </p:sp>
    </p:spTree>
    <p:extLst>
      <p:ext uri="{BB962C8B-B14F-4D97-AF65-F5344CB8AC3E}">
        <p14:creationId xmlns:p14="http://schemas.microsoft.com/office/powerpoint/2010/main" val="1836483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Lists</a:t>
            </a:r>
          </a:p>
        </p:txBody>
      </p:sp>
      <p:sp>
        <p:nvSpPr>
          <p:cNvPr id="3" name="Content Placeholder 2"/>
          <p:cNvSpPr>
            <a:spLocks noGrp="1"/>
          </p:cNvSpPr>
          <p:nvPr>
            <p:ph idx="1"/>
          </p:nvPr>
        </p:nvSpPr>
        <p:spPr/>
        <p:txBody>
          <a:bodyPr>
            <a:normAutofit/>
          </a:bodyPr>
          <a:lstStyle/>
          <a:p>
            <a:r>
              <a:rPr lang="en-US" dirty="0"/>
              <a:t>Groups the related content together</a:t>
            </a:r>
          </a:p>
          <a:p>
            <a:r>
              <a:rPr lang="en-US" dirty="0"/>
              <a:t>Create structured navigations like menu bars</a:t>
            </a:r>
          </a:p>
          <a:p>
            <a:pPr marL="0" indent="0">
              <a:buNone/>
            </a:pPr>
            <a:r>
              <a:rPr lang="en-US" dirty="0"/>
              <a:t>Types of List</a:t>
            </a:r>
          </a:p>
          <a:p>
            <a:pPr lvl="1"/>
            <a:r>
              <a:rPr lang="en-US" dirty="0"/>
              <a:t>Unordered List</a:t>
            </a:r>
          </a:p>
          <a:p>
            <a:pPr lvl="1"/>
            <a:r>
              <a:rPr lang="en-US" dirty="0"/>
              <a:t>Ordered List</a:t>
            </a:r>
          </a:p>
          <a:p>
            <a:pPr lvl="1"/>
            <a:r>
              <a:rPr lang="en-US" dirty="0"/>
              <a:t>Definition or Description List</a:t>
            </a:r>
          </a:p>
          <a:p>
            <a:pPr lvl="1"/>
            <a:r>
              <a:rPr lang="en-US" dirty="0"/>
              <a:t>All these types have a </a:t>
            </a:r>
            <a:r>
              <a:rPr lang="en-US" dirty="0">
                <a:effectLst>
                  <a:outerShdw blurRad="38100" dist="38100" dir="2700000" algn="tl">
                    <a:srgbClr val="000000">
                      <a:alpha val="43137"/>
                    </a:srgbClr>
                  </a:outerShdw>
                </a:effectLst>
              </a:rPr>
              <a:t>start</a:t>
            </a:r>
            <a:r>
              <a:rPr lang="en-US" dirty="0"/>
              <a:t> and an end </a:t>
            </a:r>
            <a:r>
              <a:rPr lang="en-US" dirty="0">
                <a:effectLst>
                  <a:outerShdw blurRad="38100" dist="38100" dir="2700000" algn="tl">
                    <a:srgbClr val="000000">
                      <a:alpha val="43137"/>
                    </a:srgbClr>
                  </a:outerShdw>
                </a:effectLst>
              </a:rPr>
              <a:t>tag</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31</a:t>
            </a:fld>
            <a:endParaRPr lang="en-US"/>
          </a:p>
        </p:txBody>
      </p:sp>
      <p:sp>
        <p:nvSpPr>
          <p:cNvPr id="7" name="Rectangle 6"/>
          <p:cNvSpPr/>
          <p:nvPr/>
        </p:nvSpPr>
        <p:spPr>
          <a:xfrm>
            <a:off x="8849533" y="1870075"/>
            <a:ext cx="2712203" cy="3046988"/>
          </a:xfrm>
          <a:prstGeom prst="rect">
            <a:avLst/>
          </a:prstGeom>
        </p:spPr>
        <p:txBody>
          <a:bodyPr wrap="square">
            <a:spAutoFit/>
          </a:bodyPr>
          <a:lstStyle/>
          <a:p>
            <a:r>
              <a:rPr lang="en-US" sz="2400" dirty="0"/>
              <a:t>syntax:</a:t>
            </a:r>
          </a:p>
          <a:p>
            <a:r>
              <a:rPr lang="en-US" sz="2400" dirty="0">
                <a:solidFill>
                  <a:srgbClr val="FF0000"/>
                </a:solidFill>
                <a:effectLst>
                  <a:outerShdw blurRad="38100" dist="38100" dir="2700000" algn="tl">
                    <a:srgbClr val="000000">
                      <a:alpha val="43137"/>
                    </a:srgbClr>
                  </a:outerShdw>
                </a:effectLst>
              </a:rPr>
              <a:t>&lt;type of list&gt;</a:t>
            </a:r>
          </a:p>
          <a:p>
            <a:r>
              <a:rPr lang="it-IT" sz="2400" dirty="0">
                <a:solidFill>
                  <a:srgbClr val="FF0000"/>
                </a:solidFill>
                <a:effectLst>
                  <a:outerShdw blurRad="38100" dist="38100" dir="2700000" algn="tl">
                    <a:srgbClr val="000000">
                      <a:alpha val="43137"/>
                    </a:srgbClr>
                  </a:outerShdw>
                </a:effectLst>
              </a:rPr>
              <a:t>&lt;li&gt; list item 1 &lt;/li&gt;</a:t>
            </a:r>
          </a:p>
          <a:p>
            <a:r>
              <a:rPr lang="it-IT" sz="2400" dirty="0">
                <a:solidFill>
                  <a:srgbClr val="FF0000"/>
                </a:solidFill>
                <a:effectLst>
                  <a:outerShdw blurRad="38100" dist="38100" dir="2700000" algn="tl">
                    <a:srgbClr val="000000">
                      <a:alpha val="43137"/>
                    </a:srgbClr>
                  </a:outerShdw>
                </a:effectLst>
              </a:rPr>
              <a:t>&lt;li&gt; list item 2 &lt;/li&gt;</a:t>
            </a:r>
          </a:p>
          <a:p>
            <a:r>
              <a:rPr lang="en-US" sz="2400" dirty="0">
                <a:solidFill>
                  <a:srgbClr val="FF0000"/>
                </a:solidFill>
                <a:effectLst>
                  <a:outerShdw blurRad="38100" dist="38100" dir="2700000" algn="tl">
                    <a:srgbClr val="000000">
                      <a:alpha val="43137"/>
                    </a:srgbClr>
                  </a:outerShdw>
                </a:effectLst>
              </a:rPr>
              <a:t>.</a:t>
            </a:r>
          </a:p>
          <a:p>
            <a:r>
              <a:rPr lang="en-US" sz="2400" dirty="0">
                <a:solidFill>
                  <a:srgbClr val="FF0000"/>
                </a:solidFill>
                <a:effectLst>
                  <a:outerShdw blurRad="38100" dist="38100" dir="2700000" algn="tl">
                    <a:srgbClr val="000000">
                      <a:alpha val="43137"/>
                    </a:srgbClr>
                  </a:outerShdw>
                </a:effectLst>
              </a:rPr>
              <a:t>.</a:t>
            </a:r>
          </a:p>
          <a:p>
            <a:r>
              <a:rPr lang="it-IT" sz="2400" dirty="0">
                <a:solidFill>
                  <a:srgbClr val="FF0000"/>
                </a:solidFill>
                <a:effectLst>
                  <a:outerShdw blurRad="38100" dist="38100" dir="2700000" algn="tl">
                    <a:srgbClr val="000000">
                      <a:alpha val="43137"/>
                    </a:srgbClr>
                  </a:outerShdw>
                </a:effectLst>
              </a:rPr>
              <a:t>&lt;li&gt; list item n &lt;/li&gt;</a:t>
            </a:r>
          </a:p>
          <a:p>
            <a:r>
              <a:rPr lang="en-US" sz="2400" dirty="0">
                <a:solidFill>
                  <a:srgbClr val="FF0000"/>
                </a:solidFill>
                <a:effectLst>
                  <a:outerShdw blurRad="38100" dist="38100" dir="2700000" algn="tl">
                    <a:srgbClr val="000000">
                      <a:alpha val="43137"/>
                    </a:srgbClr>
                  </a:outerShdw>
                </a:effectLst>
              </a:rPr>
              <a:t>&lt;/type of list&gt;</a:t>
            </a:r>
          </a:p>
        </p:txBody>
      </p:sp>
    </p:spTree>
    <p:extLst>
      <p:ext uri="{BB962C8B-B14F-4D97-AF65-F5344CB8AC3E}">
        <p14:creationId xmlns:p14="http://schemas.microsoft.com/office/powerpoint/2010/main" val="2021799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UL Style Types</a:t>
            </a:r>
          </a:p>
        </p:txBody>
      </p:sp>
      <p:sp>
        <p:nvSpPr>
          <p:cNvPr id="3" name="Content Placeholder 2"/>
          <p:cNvSpPr>
            <a:spLocks noGrp="1"/>
          </p:cNvSpPr>
          <p:nvPr>
            <p:ph idx="1"/>
          </p:nvPr>
        </p:nvSpPr>
        <p:spPr/>
        <p:txBody>
          <a:bodyPr/>
          <a:lstStyle/>
          <a:p>
            <a:r>
              <a:rPr lang="en-US" dirty="0"/>
              <a:t>We can use CSS and style to modify how the Unordered List should be displayed</a:t>
            </a:r>
          </a:p>
          <a:p>
            <a:r>
              <a:rPr lang="en-US" dirty="0"/>
              <a:t>We have to specify the style inside the start tag</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ul</a:t>
            </a:r>
            <a:r>
              <a:rPr lang="en-US" dirty="0">
                <a:solidFill>
                  <a:srgbClr val="FF0000"/>
                </a:solidFill>
                <a:effectLst>
                  <a:outerShdw blurRad="38100" dist="38100" dir="2700000" algn="tl">
                    <a:srgbClr val="000000">
                      <a:alpha val="43137"/>
                    </a:srgbClr>
                  </a:outerShdw>
                </a:effectLst>
              </a:rPr>
              <a:t> style = "</a:t>
            </a:r>
            <a:r>
              <a:rPr lang="en-US" dirty="0" err="1">
                <a:solidFill>
                  <a:srgbClr val="FF0000"/>
                </a:solidFill>
                <a:effectLst>
                  <a:outerShdw blurRad="38100" dist="38100" dir="2700000" algn="tl">
                    <a:srgbClr val="000000">
                      <a:alpha val="43137"/>
                    </a:srgbClr>
                  </a:outerShdw>
                </a:effectLst>
              </a:rPr>
              <a:t>list-style-type:style</a:t>
            </a:r>
            <a:r>
              <a:rPr lang="en-US" dirty="0">
                <a:solidFill>
                  <a:srgbClr val="FF0000"/>
                </a:solidFill>
                <a:effectLst>
                  <a:outerShdw blurRad="38100" dist="38100" dir="2700000" algn="tl">
                    <a:srgbClr val="000000">
                      <a:alpha val="43137"/>
                    </a:srgbClr>
                  </a:outerShdw>
                </a:effectLst>
              </a:rPr>
              <a:t>"&gt;</a:t>
            </a:r>
          </a:p>
          <a:p>
            <a:pPr lvl="1"/>
            <a:r>
              <a:rPr lang="en-US" sz="2800" dirty="0">
                <a:effectLst>
                  <a:outerShdw blurRad="38100" dist="38100" dir="2700000" algn="tl">
                    <a:srgbClr val="000000">
                      <a:alpha val="43137"/>
                    </a:srgbClr>
                  </a:outerShdw>
                </a:effectLst>
              </a:rPr>
              <a:t>Disc</a:t>
            </a:r>
            <a:r>
              <a:rPr lang="en-US" sz="2800" dirty="0"/>
              <a:t> (default)</a:t>
            </a:r>
          </a:p>
          <a:p>
            <a:pPr lvl="1"/>
            <a:r>
              <a:rPr lang="en-US" sz="2800" dirty="0">
                <a:effectLst>
                  <a:outerShdw blurRad="38100" dist="38100" dir="2700000" algn="tl">
                    <a:srgbClr val="000000">
                      <a:alpha val="43137"/>
                    </a:srgbClr>
                  </a:outerShdw>
                </a:effectLst>
              </a:rPr>
              <a:t>Circle</a:t>
            </a:r>
          </a:p>
          <a:p>
            <a:pPr lvl="1"/>
            <a:r>
              <a:rPr lang="en-US" sz="2800" dirty="0">
                <a:effectLst>
                  <a:outerShdw blurRad="38100" dist="38100" dir="2700000" algn="tl">
                    <a:srgbClr val="000000">
                      <a:alpha val="43137"/>
                    </a:srgbClr>
                  </a:outerShdw>
                </a:effectLst>
              </a:rPr>
              <a:t>Square</a:t>
            </a:r>
          </a:p>
          <a:p>
            <a:pPr lvl="1"/>
            <a:r>
              <a:rPr lang="en-US" sz="2800" dirty="0">
                <a:effectLst>
                  <a:outerShdw blurRad="38100" dist="38100" dir="2700000" algn="tl">
                    <a:srgbClr val="000000">
                      <a:alpha val="43137"/>
                    </a:srgbClr>
                  </a:outerShdw>
                </a:effectLst>
              </a:rPr>
              <a:t>None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32</a:t>
            </a:fld>
            <a:endParaRPr lang="en-US"/>
          </a:p>
        </p:txBody>
      </p:sp>
    </p:spTree>
    <p:extLst>
      <p:ext uri="{BB962C8B-B14F-4D97-AF65-F5344CB8AC3E}">
        <p14:creationId xmlns:p14="http://schemas.microsoft.com/office/powerpoint/2010/main" val="912246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 Types</a:t>
            </a:r>
          </a:p>
        </p:txBody>
      </p:sp>
      <p:sp>
        <p:nvSpPr>
          <p:cNvPr id="3" name="Content Placeholder 2"/>
          <p:cNvSpPr>
            <a:spLocks noGrp="1"/>
          </p:cNvSpPr>
          <p:nvPr>
            <p:ph idx="1"/>
          </p:nvPr>
        </p:nvSpPr>
        <p:spPr/>
        <p:txBody>
          <a:bodyPr/>
          <a:lstStyle/>
          <a:p>
            <a:r>
              <a:rPr lang="en-US" dirty="0"/>
              <a:t>Numbers (1, 2, 3)</a:t>
            </a:r>
          </a:p>
          <a:p>
            <a:r>
              <a:rPr lang="en-US" dirty="0"/>
              <a:t>Upper Case Letters (A, B, C)</a:t>
            </a:r>
          </a:p>
          <a:p>
            <a:r>
              <a:rPr lang="en-US" dirty="0"/>
              <a:t>Lower Case Letters (a, b, c)</a:t>
            </a:r>
          </a:p>
          <a:p>
            <a:r>
              <a:rPr lang="sv-SE" dirty="0"/>
              <a:t>Roman Numerals in Uppercase </a:t>
            </a:r>
            <a:r>
              <a:rPr lang="en-US" dirty="0"/>
              <a:t>(I, II, III)</a:t>
            </a:r>
          </a:p>
          <a:p>
            <a:r>
              <a:rPr lang="en-US" dirty="0"/>
              <a:t>Roman Numerals in Lowercase (</a:t>
            </a:r>
            <a:r>
              <a:rPr lang="en-US" dirty="0" err="1"/>
              <a:t>i</a:t>
            </a:r>
            <a:r>
              <a:rPr lang="en-US" dirty="0"/>
              <a:t>, ii, iii)</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33</a:t>
            </a:fld>
            <a:endParaRPr lang="en-US"/>
          </a:p>
        </p:txBody>
      </p:sp>
    </p:spTree>
    <p:extLst>
      <p:ext uri="{BB962C8B-B14F-4D97-AF65-F5344CB8AC3E}">
        <p14:creationId xmlns:p14="http://schemas.microsoft.com/office/powerpoint/2010/main" val="3057725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List</a:t>
            </a:r>
          </a:p>
        </p:txBody>
      </p:sp>
      <p:sp>
        <p:nvSpPr>
          <p:cNvPr id="3" name="Content Placeholder 2"/>
          <p:cNvSpPr>
            <a:spLocks noGrp="1"/>
          </p:cNvSpPr>
          <p:nvPr>
            <p:ph idx="1"/>
          </p:nvPr>
        </p:nvSpPr>
        <p:spPr/>
        <p:txBody>
          <a:bodyPr/>
          <a:lstStyle/>
          <a:p>
            <a:pPr algn="just"/>
            <a:r>
              <a:rPr lang="en-US" dirty="0"/>
              <a:t>Description List </a:t>
            </a:r>
            <a:r>
              <a:rPr lang="en-US" dirty="0">
                <a:solidFill>
                  <a:srgbClr val="FF0000"/>
                </a:solidFill>
                <a:effectLst>
                  <a:outerShdw blurRad="38100" dist="38100" dir="2700000" algn="tl">
                    <a:srgbClr val="000000">
                      <a:alpha val="43137"/>
                    </a:srgbClr>
                  </a:outerShdw>
                </a:effectLst>
              </a:rPr>
              <a:t>&lt;dl&gt; </a:t>
            </a:r>
            <a:r>
              <a:rPr lang="en-US" dirty="0"/>
              <a:t>is not like the other two lists </a:t>
            </a:r>
          </a:p>
          <a:p>
            <a:pPr algn="just"/>
            <a:r>
              <a:rPr lang="en-US" dirty="0"/>
              <a:t>It will display the list in the form of a </a:t>
            </a:r>
            <a:r>
              <a:rPr lang="en-US" dirty="0">
                <a:effectLst>
                  <a:outerShdw blurRad="38100" dist="38100" dir="2700000" algn="tl">
                    <a:srgbClr val="000000">
                      <a:alpha val="43137"/>
                    </a:srgbClr>
                  </a:outerShdw>
                </a:effectLst>
              </a:rPr>
              <a:t>name - value pair</a:t>
            </a:r>
          </a:p>
          <a:p>
            <a:pPr algn="just"/>
            <a:r>
              <a:rPr lang="en-US" dirty="0"/>
              <a:t>That means it will display the line item without prefixing it with a bullet or a number</a:t>
            </a:r>
          </a:p>
          <a:p>
            <a:pPr algn="just"/>
            <a:r>
              <a:rPr lang="en-US" dirty="0"/>
              <a:t>Each list item will have a name and a value to it.</a:t>
            </a:r>
          </a:p>
          <a:p>
            <a:pPr lvl="1" algn="just"/>
            <a:r>
              <a:rPr lang="en-US" dirty="0"/>
              <a:t>Instead of </a:t>
            </a:r>
            <a:r>
              <a:rPr lang="en-US" dirty="0">
                <a:solidFill>
                  <a:srgbClr val="FF0000"/>
                </a:solidFill>
                <a:effectLst>
                  <a:outerShdw blurRad="38100" dist="38100" dir="2700000" algn="tl">
                    <a:srgbClr val="000000">
                      <a:alpha val="43137"/>
                    </a:srgbClr>
                  </a:outerShdw>
                </a:effectLst>
              </a:rPr>
              <a:t>li </a:t>
            </a:r>
            <a:r>
              <a:rPr lang="en-US" dirty="0"/>
              <a:t>tag, we have to use </a:t>
            </a:r>
            <a:r>
              <a:rPr lang="en-US" dirty="0" err="1">
                <a:solidFill>
                  <a:srgbClr val="FF0000"/>
                </a:solidFill>
                <a:effectLst>
                  <a:outerShdw blurRad="38100" dist="38100" dir="2700000" algn="tl">
                    <a:srgbClr val="000000">
                      <a:alpha val="43137"/>
                    </a:srgbClr>
                  </a:outerShdw>
                </a:effectLst>
              </a:rPr>
              <a:t>dt</a:t>
            </a:r>
            <a:r>
              <a:rPr lang="en-US" dirty="0">
                <a:solidFill>
                  <a:srgbClr val="FF0000"/>
                </a:solidFill>
                <a:effectLst>
                  <a:outerShdw blurRad="38100" dist="38100" dir="2700000" algn="tl">
                    <a:srgbClr val="000000">
                      <a:alpha val="43137"/>
                    </a:srgbClr>
                  </a:outerShdw>
                </a:effectLst>
              </a:rPr>
              <a:t> </a:t>
            </a:r>
            <a:r>
              <a:rPr lang="en-US" dirty="0"/>
              <a:t>and </a:t>
            </a:r>
            <a:r>
              <a:rPr lang="en-US" dirty="0" err="1">
                <a:solidFill>
                  <a:srgbClr val="FF0000"/>
                </a:solidFill>
                <a:effectLst>
                  <a:outerShdw blurRad="38100" dist="38100" dir="2700000" algn="tl">
                    <a:srgbClr val="000000">
                      <a:alpha val="43137"/>
                    </a:srgbClr>
                  </a:outerShdw>
                </a:effectLst>
              </a:rPr>
              <a:t>dd</a:t>
            </a:r>
            <a:r>
              <a:rPr lang="en-US" dirty="0"/>
              <a:t> tags</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dt</a:t>
            </a:r>
            <a:r>
              <a:rPr lang="en-US" sz="2600" dirty="0"/>
              <a:t> - Term or name</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dd</a:t>
            </a:r>
            <a:r>
              <a:rPr lang="en-US" sz="2600" dirty="0"/>
              <a:t> - Term definition or value</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dt</a:t>
            </a:r>
            <a:r>
              <a:rPr lang="en-US" sz="2600" dirty="0">
                <a:solidFill>
                  <a:srgbClr val="FF0000"/>
                </a:solidFill>
                <a:effectLst>
                  <a:outerShdw blurRad="38100" dist="38100" dir="2700000" algn="tl">
                    <a:srgbClr val="000000">
                      <a:alpha val="43137"/>
                    </a:srgbClr>
                  </a:outerShdw>
                </a:effectLst>
              </a:rPr>
              <a:t> </a:t>
            </a:r>
            <a:r>
              <a:rPr lang="en-US" sz="2600" dirty="0"/>
              <a:t>and </a:t>
            </a:r>
            <a:r>
              <a:rPr lang="en-US" sz="2600" dirty="0" err="1">
                <a:solidFill>
                  <a:srgbClr val="FF0000"/>
                </a:solidFill>
                <a:effectLst>
                  <a:outerShdw blurRad="38100" dist="38100" dir="2700000" algn="tl">
                    <a:srgbClr val="000000">
                      <a:alpha val="43137"/>
                    </a:srgbClr>
                  </a:outerShdw>
                </a:effectLst>
              </a:rPr>
              <a:t>dd</a:t>
            </a:r>
            <a:r>
              <a:rPr lang="en-US" sz="2600" dirty="0"/>
              <a:t> have a start and end tag</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34</a:t>
            </a:fld>
            <a:endParaRPr lang="en-US"/>
          </a:p>
        </p:txBody>
      </p:sp>
    </p:spTree>
    <p:extLst>
      <p:ext uri="{BB962C8B-B14F-4D97-AF65-F5344CB8AC3E}">
        <p14:creationId xmlns:p14="http://schemas.microsoft.com/office/powerpoint/2010/main" val="3569176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List</a:t>
            </a:r>
          </a:p>
        </p:txBody>
      </p:sp>
      <p:sp>
        <p:nvSpPr>
          <p:cNvPr id="3" name="Content Placeholder 2"/>
          <p:cNvSpPr>
            <a:spLocks noGrp="1"/>
          </p:cNvSpPr>
          <p:nvPr>
            <p:ph idx="1"/>
          </p:nvPr>
        </p:nvSpPr>
        <p:spPr/>
        <p:txBody>
          <a:bodyPr>
            <a:normAutofit/>
          </a:bodyPr>
          <a:lstStyle/>
          <a:p>
            <a:r>
              <a:rPr lang="en-US" dirty="0"/>
              <a:t>Must have at least one term and a value assigned to it</a:t>
            </a:r>
          </a:p>
          <a:p>
            <a:r>
              <a:rPr lang="en-US" dirty="0"/>
              <a:t>We can have multiple values for a single term</a:t>
            </a:r>
          </a:p>
          <a:p>
            <a:pPr marL="457200" lvl="1" indent="0">
              <a:buNone/>
            </a:pPr>
            <a:r>
              <a:rPr lang="en-US" sz="2800" dirty="0">
                <a:solidFill>
                  <a:srgbClr val="FF0000"/>
                </a:solidFill>
                <a:effectLst>
                  <a:outerShdw blurRad="38100" dist="38100" dir="2700000" algn="tl">
                    <a:srgbClr val="000000">
                      <a:alpha val="43137"/>
                    </a:srgbClr>
                  </a:outerShdw>
                </a:effectLst>
              </a:rPr>
              <a:t>&lt;dl&gt;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 </a:t>
            </a:r>
            <a:r>
              <a:rPr lang="en-US" sz="2800" dirty="0">
                <a:solidFill>
                  <a:srgbClr val="0066FF"/>
                </a:solidFill>
                <a:effectLst>
                  <a:outerShdw blurRad="38100" dist="38100" dir="2700000" algn="tl">
                    <a:srgbClr val="000000">
                      <a:alpha val="43137"/>
                    </a:srgbClr>
                  </a:outerShdw>
                </a:effectLst>
              </a:rPr>
              <a:t>Name 1</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1 </a:t>
            </a: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 </a:t>
            </a:r>
            <a:r>
              <a:rPr lang="en-US" sz="2800" dirty="0">
                <a:solidFill>
                  <a:srgbClr val="0066FF"/>
                </a:solidFill>
                <a:effectLst>
                  <a:outerShdw blurRad="38100" dist="38100" dir="2700000" algn="tl">
                    <a:srgbClr val="000000">
                      <a:alpha val="43137"/>
                    </a:srgbClr>
                  </a:outerShdw>
                </a:effectLst>
              </a:rPr>
              <a:t>Name 2</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1</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2</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&lt;/dl&gt;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35</a:t>
            </a:fld>
            <a:endParaRPr lang="en-US"/>
          </a:p>
        </p:txBody>
      </p:sp>
    </p:spTree>
    <p:extLst>
      <p:ext uri="{BB962C8B-B14F-4D97-AF65-F5344CB8AC3E}">
        <p14:creationId xmlns:p14="http://schemas.microsoft.com/office/powerpoint/2010/main" val="1684069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List</a:t>
            </a:r>
          </a:p>
        </p:txBody>
      </p:sp>
      <p:sp>
        <p:nvSpPr>
          <p:cNvPr id="3" name="Content Placeholder 2"/>
          <p:cNvSpPr>
            <a:spLocks noGrp="1"/>
          </p:cNvSpPr>
          <p:nvPr>
            <p:ph idx="1"/>
          </p:nvPr>
        </p:nvSpPr>
        <p:spPr>
          <a:xfrm>
            <a:off x="838200" y="1329678"/>
            <a:ext cx="10515600" cy="4351338"/>
          </a:xfrm>
        </p:spPr>
        <p:txBody>
          <a:bodyPr/>
          <a:lstStyle/>
          <a:p>
            <a:r>
              <a:rPr lang="en-US" dirty="0"/>
              <a:t>We can also have a list inside a list. This is called a Nested List</a:t>
            </a:r>
          </a:p>
          <a:p>
            <a:r>
              <a:rPr lang="en-US" dirty="0"/>
              <a:t>Both the lists need not be the same</a:t>
            </a:r>
          </a:p>
          <a:p>
            <a:pPr lvl="1"/>
            <a:r>
              <a:rPr lang="en-US" dirty="0"/>
              <a:t>For </a:t>
            </a:r>
            <a:r>
              <a:rPr lang="en-US" dirty="0" err="1"/>
              <a:t>eg</a:t>
            </a:r>
            <a:r>
              <a:rPr lang="en-US" dirty="0"/>
              <a:t>: Both need not be ordered or unordered or descriptive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36</a:t>
            </a:fld>
            <a:endParaRPr lang="en-US"/>
          </a:p>
        </p:txBody>
      </p:sp>
      <p:sp>
        <p:nvSpPr>
          <p:cNvPr id="7" name="Rectangle 6"/>
          <p:cNvSpPr/>
          <p:nvPr/>
        </p:nvSpPr>
        <p:spPr>
          <a:xfrm>
            <a:off x="7320365" y="3177134"/>
            <a:ext cx="2490062" cy="2308324"/>
          </a:xfrm>
          <a:prstGeom prst="rect">
            <a:avLst/>
          </a:prstGeom>
          <a:ln>
            <a:solidFill>
              <a:schemeClr val="bg1">
                <a:lumMod val="75000"/>
              </a:schemeClr>
            </a:solidFill>
          </a:ln>
        </p:spPr>
        <p:txBody>
          <a:bodyPr wrap="square">
            <a:spAutoFit/>
          </a:bodyPr>
          <a:lstStyle/>
          <a:p>
            <a:r>
              <a:rPr lang="en-US" sz="2400" dirty="0">
                <a:effectLst>
                  <a:outerShdw blurRad="38100" dist="38100" dir="2700000" algn="tl">
                    <a:srgbClr val="000000">
                      <a:alpha val="43137"/>
                    </a:srgbClr>
                  </a:outerShdw>
                </a:effectLst>
                <a:latin typeface="CMSS12"/>
              </a:rPr>
              <a:t>1. </a:t>
            </a:r>
            <a:r>
              <a:rPr lang="en-US" sz="2400" dirty="0">
                <a:effectLst>
                  <a:outerShdw blurRad="38100" dist="38100" dir="2700000" algn="tl">
                    <a:srgbClr val="000000">
                      <a:alpha val="43137"/>
                    </a:srgbClr>
                  </a:outerShdw>
                </a:effectLst>
                <a:latin typeface="CMTT12"/>
              </a:rPr>
              <a:t>Unit 1</a:t>
            </a:r>
          </a:p>
          <a:p>
            <a:pPr marL="628650" lvl="1" indent="-1714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1</a:t>
            </a:r>
          </a:p>
          <a:p>
            <a:pPr marL="628650" lvl="1" indent="-1714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2</a:t>
            </a:r>
          </a:p>
          <a:p>
            <a:r>
              <a:rPr lang="en-US" sz="2400" dirty="0">
                <a:effectLst>
                  <a:outerShdw blurRad="38100" dist="38100" dir="2700000" algn="tl">
                    <a:srgbClr val="000000">
                      <a:alpha val="43137"/>
                    </a:srgbClr>
                  </a:outerShdw>
                </a:effectLst>
                <a:latin typeface="CMSS12"/>
              </a:rPr>
              <a:t>2. </a:t>
            </a:r>
            <a:r>
              <a:rPr lang="en-US" sz="2400" dirty="0">
                <a:effectLst>
                  <a:outerShdw blurRad="38100" dist="38100" dir="2700000" algn="tl">
                    <a:srgbClr val="000000">
                      <a:alpha val="43137"/>
                    </a:srgbClr>
                  </a:outerShdw>
                </a:effectLst>
                <a:latin typeface="CMTT12"/>
              </a:rPr>
              <a:t>Unit 2</a:t>
            </a:r>
          </a:p>
          <a:p>
            <a:pPr marL="742950" lvl="1" indent="-2857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1</a:t>
            </a:r>
          </a:p>
          <a:p>
            <a:pPr marL="742950" lvl="1" indent="-2857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2</a:t>
            </a:r>
            <a:endParaRPr lang="en-US" sz="2400" dirty="0">
              <a:effectLst>
                <a:outerShdw blurRad="38100" dist="38100" dir="2700000" algn="tl">
                  <a:srgbClr val="000000">
                    <a:alpha val="43137"/>
                  </a:srgbClr>
                </a:outerShdw>
              </a:effectLst>
            </a:endParaRPr>
          </a:p>
        </p:txBody>
      </p:sp>
      <p:sp>
        <p:nvSpPr>
          <p:cNvPr id="8" name="Rectangle 7"/>
          <p:cNvSpPr/>
          <p:nvPr/>
        </p:nvSpPr>
        <p:spPr>
          <a:xfrm>
            <a:off x="1467172" y="2615664"/>
            <a:ext cx="6096000" cy="4154984"/>
          </a:xfrm>
          <a:prstGeom prst="rect">
            <a:avLst/>
          </a:prstGeom>
        </p:spPr>
        <p:txBody>
          <a:bodyPr>
            <a:spAutoFit/>
          </a:bodyPr>
          <a:lstStyle/>
          <a:p>
            <a:r>
              <a:rPr lang="en-US" sz="2200" dirty="0">
                <a:solidFill>
                  <a:srgbClr val="FF0000"/>
                </a:solidFill>
                <a:effectLst>
                  <a:outerShdw blurRad="38100" dist="38100" dir="2700000" algn="tl">
                    <a:srgbClr val="000000">
                      <a:alpha val="43137"/>
                    </a:srgbClr>
                  </a:outerShdw>
                </a:effectLst>
                <a:latin typeface="CMMI12"/>
              </a:rPr>
              <a:t>&lt;</a:t>
            </a:r>
            <a:r>
              <a:rPr lang="en-US" sz="2200" dirty="0" err="1">
                <a:solidFill>
                  <a:srgbClr val="FF0000"/>
                </a:solidFill>
                <a:effectLst>
                  <a:outerShdw blurRad="38100" dist="38100" dir="2700000" algn="tl">
                    <a:srgbClr val="000000">
                      <a:alpha val="43137"/>
                    </a:srgbClr>
                  </a:outerShdw>
                </a:effectLst>
                <a:latin typeface="CMTT12"/>
              </a:rPr>
              <a:t>ol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Unit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2</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Unit 2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2</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ol</a:t>
            </a:r>
            <a:r>
              <a:rPr lang="en-US" sz="2200" dirty="0">
                <a:solidFill>
                  <a:srgbClr val="FF0000"/>
                </a:solidFill>
                <a:effectLst>
                  <a:outerShdw blurRad="38100" dist="38100" dir="2700000" algn="tl">
                    <a:srgbClr val="000000">
                      <a:alpha val="43137"/>
                    </a:srgbClr>
                  </a:outerShdw>
                </a:effectLst>
                <a:latin typeface="CMMI12"/>
              </a:rPr>
              <a:t>&gt;</a:t>
            </a:r>
          </a:p>
        </p:txBody>
      </p:sp>
    </p:spTree>
    <p:extLst>
      <p:ext uri="{BB962C8B-B14F-4D97-AF65-F5344CB8AC3E}">
        <p14:creationId xmlns:p14="http://schemas.microsoft.com/office/powerpoint/2010/main" val="728171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Tables</a:t>
            </a:r>
          </a:p>
        </p:txBody>
      </p:sp>
      <p:sp>
        <p:nvSpPr>
          <p:cNvPr id="3" name="Content Placeholder 2"/>
          <p:cNvSpPr>
            <a:spLocks noGrp="1"/>
          </p:cNvSpPr>
          <p:nvPr>
            <p:ph idx="1"/>
          </p:nvPr>
        </p:nvSpPr>
        <p:spPr/>
        <p:txBody>
          <a:bodyPr/>
          <a:lstStyle/>
          <a:p>
            <a:pPr algn="just">
              <a:lnSpc>
                <a:spcPct val="100000"/>
              </a:lnSpc>
            </a:pPr>
            <a:r>
              <a:rPr lang="en-US" dirty="0"/>
              <a:t>Tables are used to format the content to be displayed on the web, in the form of Rows and Columns</a:t>
            </a:r>
          </a:p>
          <a:p>
            <a:pPr marL="0" indent="0" algn="just">
              <a:lnSpc>
                <a:spcPct val="100000"/>
              </a:lnSpc>
              <a:buNone/>
            </a:pPr>
            <a:r>
              <a:rPr lang="en-US" b="1" dirty="0"/>
              <a:t>Table Attributes</a:t>
            </a:r>
          </a:p>
          <a:p>
            <a:pPr algn="just">
              <a:lnSpc>
                <a:spcPct val="100000"/>
              </a:lnSpc>
            </a:pPr>
            <a:r>
              <a:rPr lang="en-US" dirty="0"/>
              <a:t>HTML attributes and styles</a:t>
            </a:r>
          </a:p>
          <a:p>
            <a:pPr lvl="1" algn="just">
              <a:lnSpc>
                <a:spcPct val="100000"/>
              </a:lnSpc>
            </a:pPr>
            <a:r>
              <a:rPr lang="en-US" sz="2800" dirty="0"/>
              <a:t>Border</a:t>
            </a:r>
          </a:p>
          <a:p>
            <a:pPr lvl="1" algn="just">
              <a:lnSpc>
                <a:spcPct val="100000"/>
              </a:lnSpc>
            </a:pPr>
            <a:r>
              <a:rPr lang="en-US" sz="2800" dirty="0"/>
              <a:t>Width</a:t>
            </a:r>
          </a:p>
          <a:p>
            <a:pPr lvl="1" algn="just">
              <a:lnSpc>
                <a:spcPct val="100000"/>
              </a:lnSpc>
            </a:pPr>
            <a:r>
              <a:rPr lang="en-US" sz="2800" dirty="0"/>
              <a:t>Spacing and Padding</a:t>
            </a:r>
          </a:p>
          <a:p>
            <a:pPr lvl="1" algn="just">
              <a:lnSpc>
                <a:spcPct val="100000"/>
              </a:lnSpc>
            </a:pPr>
            <a:r>
              <a:rPr lang="en-US" sz="2800" dirty="0" err="1"/>
              <a:t>Rowspan</a:t>
            </a:r>
            <a:r>
              <a:rPr lang="en-US" sz="2800" dirty="0"/>
              <a:t> and </a:t>
            </a:r>
            <a:r>
              <a:rPr lang="en-US" sz="2800" dirty="0" err="1"/>
              <a:t>Columnspan</a:t>
            </a:r>
            <a:endParaRPr lang="en-US" sz="2800" dirty="0"/>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37</a:t>
            </a:fld>
            <a:endParaRPr lang="en-US"/>
          </a:p>
        </p:txBody>
      </p:sp>
    </p:spTree>
    <p:extLst>
      <p:ext uri="{BB962C8B-B14F-4D97-AF65-F5344CB8AC3E}">
        <p14:creationId xmlns:p14="http://schemas.microsoft.com/office/powerpoint/2010/main" val="3914708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Attributes</a:t>
            </a:r>
          </a:p>
        </p:txBody>
      </p:sp>
      <p:sp>
        <p:nvSpPr>
          <p:cNvPr id="3" name="Content Placeholder 2"/>
          <p:cNvSpPr>
            <a:spLocks noGrp="1"/>
          </p:cNvSpPr>
          <p:nvPr>
            <p:ph idx="1"/>
          </p:nvPr>
        </p:nvSpPr>
        <p:spPr/>
        <p:txBody>
          <a:bodyPr/>
          <a:lstStyle/>
          <a:p>
            <a:pPr algn="just">
              <a:lnSpc>
                <a:spcPct val="150000"/>
              </a:lnSpc>
            </a:pPr>
            <a:r>
              <a:rPr lang="en-US" dirty="0"/>
              <a:t>The </a:t>
            </a:r>
            <a:r>
              <a:rPr lang="en-US" dirty="0" err="1">
                <a:effectLst>
                  <a:outerShdw blurRad="38100" dist="38100" dir="2700000" algn="tl">
                    <a:srgbClr val="000000">
                      <a:alpha val="43137"/>
                    </a:srgbClr>
                  </a:outerShdw>
                </a:effectLst>
              </a:rPr>
              <a:t>Rowspan</a:t>
            </a:r>
            <a:r>
              <a:rPr lang="en-US" dirty="0"/>
              <a:t> and </a:t>
            </a:r>
            <a:r>
              <a:rPr lang="en-US" dirty="0" err="1">
                <a:effectLst>
                  <a:outerShdw blurRad="38100" dist="38100" dir="2700000" algn="tl">
                    <a:srgbClr val="000000">
                      <a:alpha val="43137"/>
                    </a:srgbClr>
                  </a:outerShdw>
                </a:effectLst>
              </a:rPr>
              <a:t>Columnspan</a:t>
            </a:r>
            <a:r>
              <a:rPr lang="en-US" dirty="0"/>
              <a:t> are declared inside the </a:t>
            </a:r>
            <a:r>
              <a:rPr lang="en-US" dirty="0">
                <a:solidFill>
                  <a:srgbClr val="FF0000"/>
                </a:solidFill>
                <a:effectLst>
                  <a:outerShdw blurRad="38100" dist="38100" dir="2700000" algn="tl">
                    <a:srgbClr val="000000">
                      <a:alpha val="43137"/>
                    </a:srgbClr>
                  </a:outerShdw>
                </a:effectLst>
              </a:rPr>
              <a:t>td</a:t>
            </a:r>
            <a:r>
              <a:rPr lang="en-US" dirty="0"/>
              <a:t> and </a:t>
            </a:r>
            <a:r>
              <a:rPr lang="en-US" dirty="0" err="1">
                <a:solidFill>
                  <a:srgbClr val="FF0000"/>
                </a:solidFill>
                <a:effectLst>
                  <a:outerShdw blurRad="38100" dist="38100" dir="2700000" algn="tl">
                    <a:srgbClr val="000000">
                      <a:alpha val="43137"/>
                    </a:srgbClr>
                  </a:outerShdw>
                </a:effectLst>
              </a:rPr>
              <a:t>th</a:t>
            </a:r>
            <a:r>
              <a:rPr lang="en-US" dirty="0"/>
              <a:t> tag</a:t>
            </a:r>
          </a:p>
          <a:p>
            <a:pPr algn="just">
              <a:lnSpc>
                <a:spcPct val="150000"/>
              </a:lnSpc>
            </a:pPr>
            <a:r>
              <a:rPr lang="en-US" dirty="0"/>
              <a:t>The others are declared inside the </a:t>
            </a:r>
            <a:r>
              <a:rPr lang="en-US" dirty="0">
                <a:solidFill>
                  <a:srgbClr val="FF0000"/>
                </a:solidFill>
                <a:effectLst>
                  <a:outerShdw blurRad="38100" dist="38100" dir="2700000" algn="tl">
                    <a:srgbClr val="000000">
                      <a:alpha val="43137"/>
                    </a:srgbClr>
                  </a:outerShdw>
                </a:effectLst>
              </a:rPr>
              <a:t>table</a:t>
            </a:r>
            <a:r>
              <a:rPr lang="en-US" dirty="0"/>
              <a:t> start tag or in a </a:t>
            </a:r>
            <a:r>
              <a:rPr lang="en-US" dirty="0">
                <a:solidFill>
                  <a:srgbClr val="FF0000"/>
                </a:solidFill>
                <a:effectLst>
                  <a:outerShdw blurRad="38100" dist="38100" dir="2700000" algn="tl">
                    <a:srgbClr val="000000">
                      <a:alpha val="43137"/>
                    </a:srgbClr>
                  </a:outerShdw>
                </a:effectLst>
              </a:rPr>
              <a:t>style</a:t>
            </a:r>
            <a:r>
              <a:rPr lang="en-US" dirty="0"/>
              <a:t> tag or </a:t>
            </a:r>
            <a:r>
              <a:rPr lang="en-US" dirty="0">
                <a:solidFill>
                  <a:srgbClr val="FF0000"/>
                </a:solidFill>
                <a:effectLst>
                  <a:outerShdw blurRad="38100" dist="38100" dir="2700000" algn="tl">
                    <a:srgbClr val="000000">
                      <a:alpha val="43137"/>
                    </a:srgbClr>
                  </a:outerShdw>
                </a:effectLst>
              </a:rPr>
              <a:t>attribute</a:t>
            </a:r>
          </a:p>
          <a:p>
            <a:pPr marL="0" indent="0" algn="just">
              <a:lnSpc>
                <a:spcPct val="150000"/>
              </a:lnSpc>
              <a:buNone/>
            </a:pPr>
            <a:r>
              <a:rPr lang="en-US" b="1" dirty="0"/>
              <a:t>Spacing and Padding</a:t>
            </a:r>
          </a:p>
          <a:p>
            <a:pPr lvl="1" algn="just">
              <a:lnSpc>
                <a:spcPct val="150000"/>
              </a:lnSpc>
            </a:pPr>
            <a:r>
              <a:rPr lang="en-US" sz="2600" dirty="0"/>
              <a:t>Border Spacing - Space between the cells</a:t>
            </a:r>
          </a:p>
          <a:p>
            <a:pPr lvl="1" algn="just">
              <a:lnSpc>
                <a:spcPct val="150000"/>
              </a:lnSpc>
            </a:pPr>
            <a:r>
              <a:rPr lang="en-US" sz="2600" dirty="0"/>
              <a:t>Padding - Space between the cell content and cell border</a:t>
            </a:r>
            <a:endParaRPr lang="en-US" sz="2600"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38</a:t>
            </a:fld>
            <a:endParaRPr lang="en-US"/>
          </a:p>
        </p:txBody>
      </p:sp>
    </p:spTree>
    <p:extLst>
      <p:ext uri="{BB962C8B-B14F-4D97-AF65-F5344CB8AC3E}">
        <p14:creationId xmlns:p14="http://schemas.microsoft.com/office/powerpoint/2010/main" val="2079609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a:t>
            </a:r>
          </a:p>
        </p:txBody>
      </p:sp>
      <p:sp>
        <p:nvSpPr>
          <p:cNvPr id="3" name="Content Placeholder 2"/>
          <p:cNvSpPr>
            <a:spLocks noGrp="1"/>
          </p:cNvSpPr>
          <p:nvPr>
            <p:ph idx="1"/>
          </p:nvPr>
        </p:nvSpPr>
        <p:spPr/>
        <p:txBody>
          <a:bodyPr/>
          <a:lstStyle/>
          <a:p>
            <a:r>
              <a:rPr lang="en-US" dirty="0"/>
              <a:t>Helps us to understand the code </a:t>
            </a:r>
          </a:p>
          <a:p>
            <a:r>
              <a:rPr lang="en-US" dirty="0"/>
              <a:t>It enables us to write documentation of a program inside the code itself</a:t>
            </a:r>
          </a:p>
          <a:p>
            <a:r>
              <a:rPr lang="en-US" dirty="0"/>
              <a:t>Helps us to debug the code</a:t>
            </a:r>
          </a:p>
          <a:p>
            <a:r>
              <a:rPr lang="en-US" dirty="0"/>
              <a:t>It also helps us to skip a snippet of code without executing it</a:t>
            </a:r>
          </a:p>
          <a:p>
            <a:endParaRPr lang="en-US" dirty="0"/>
          </a:p>
          <a:p>
            <a:pPr marL="0" indent="0">
              <a:buNone/>
            </a:pPr>
            <a:r>
              <a:rPr lang="en-US" dirty="0"/>
              <a:t>		syntax: </a:t>
            </a:r>
            <a:r>
              <a:rPr lang="en-US" dirty="0">
                <a:solidFill>
                  <a:srgbClr val="FF0000"/>
                </a:solidFill>
                <a:effectLst>
                  <a:outerShdw blurRad="38100" dist="38100" dir="2700000" algn="tl">
                    <a:srgbClr val="000000">
                      <a:alpha val="43137"/>
                    </a:srgbClr>
                  </a:outerShdw>
                </a:effectLst>
              </a:rPr>
              <a:t>&lt;!-- our comments --&gt;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39</a:t>
            </a:fld>
            <a:endParaRPr lang="en-US"/>
          </a:p>
        </p:txBody>
      </p:sp>
    </p:spTree>
    <p:extLst>
      <p:ext uri="{BB962C8B-B14F-4D97-AF65-F5344CB8AC3E}">
        <p14:creationId xmlns:p14="http://schemas.microsoft.com/office/powerpoint/2010/main" val="1869168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Entities</a:t>
            </a:r>
          </a:p>
        </p:txBody>
      </p:sp>
      <p:sp>
        <p:nvSpPr>
          <p:cNvPr id="3" name="Content Placeholder 2"/>
          <p:cNvSpPr>
            <a:spLocks noGrp="1"/>
          </p:cNvSpPr>
          <p:nvPr>
            <p:ph idx="1"/>
          </p:nvPr>
        </p:nvSpPr>
        <p:spPr/>
        <p:txBody>
          <a:bodyPr>
            <a:normAutofit fontScale="92500" lnSpcReduction="10000"/>
          </a:bodyPr>
          <a:lstStyle/>
          <a:p>
            <a:pPr algn="just"/>
            <a:r>
              <a:rPr lang="en-US" dirty="0"/>
              <a:t>In HTML some characters are reserved</a:t>
            </a:r>
          </a:p>
          <a:p>
            <a:pPr algn="just"/>
            <a:r>
              <a:rPr lang="en-US" dirty="0"/>
              <a:t>The browser will consider those characters as a part of </a:t>
            </a:r>
            <a:r>
              <a:rPr lang="en-US" dirty="0">
                <a:effectLst>
                  <a:outerShdw blurRad="38100" dist="38100" dir="2700000" algn="tl">
                    <a:srgbClr val="000000">
                      <a:alpha val="43137"/>
                    </a:srgbClr>
                  </a:outerShdw>
                </a:effectLst>
              </a:rPr>
              <a:t>HTML syntax</a:t>
            </a:r>
          </a:p>
          <a:p>
            <a:r>
              <a:rPr lang="en-US" dirty="0"/>
              <a:t>We can use these reserved characters in the content in the form of </a:t>
            </a:r>
            <a:r>
              <a:rPr lang="en-US" dirty="0">
                <a:effectLst>
                  <a:outerShdw blurRad="38100" dist="38100" dir="2700000" algn="tl">
                    <a:srgbClr val="000000">
                      <a:alpha val="43137"/>
                    </a:srgbClr>
                  </a:outerShdw>
                </a:effectLst>
              </a:rPr>
              <a:t>HTML Entity</a:t>
            </a:r>
          </a:p>
          <a:p>
            <a:r>
              <a:rPr lang="en-US" dirty="0"/>
              <a:t>The name or number of the entities have to be written in between </a:t>
            </a:r>
            <a:r>
              <a:rPr lang="en-US" dirty="0">
                <a:effectLst>
                  <a:outerShdw blurRad="38100" dist="38100" dir="2700000" algn="tl">
                    <a:srgbClr val="000000">
                      <a:alpha val="43137"/>
                    </a:srgbClr>
                  </a:outerShdw>
                </a:effectLst>
              </a:rPr>
              <a:t>ampersand </a:t>
            </a:r>
            <a:r>
              <a:rPr lang="en-US" dirty="0"/>
              <a:t>and </a:t>
            </a:r>
            <a:r>
              <a:rPr lang="en-US" dirty="0">
                <a:effectLst>
                  <a:outerShdw blurRad="38100" dist="38100" dir="2700000" algn="tl">
                    <a:srgbClr val="000000">
                      <a:alpha val="43137"/>
                    </a:srgbClr>
                  </a:outerShdw>
                </a:effectLst>
              </a:rPr>
              <a:t>semicolon symbols</a:t>
            </a:r>
          </a:p>
          <a:p>
            <a:r>
              <a:rPr lang="en-US" dirty="0"/>
              <a:t>Blank space ( )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nbsp</a:t>
            </a:r>
            <a:r>
              <a:rPr lang="en-US" dirty="0">
                <a:solidFill>
                  <a:srgbClr val="FF0000"/>
                </a:solidFill>
                <a:effectLst>
                  <a:outerShdw blurRad="38100" dist="38100" dir="2700000" algn="tl">
                    <a:srgbClr val="000000">
                      <a:alpha val="43137"/>
                    </a:srgbClr>
                  </a:outerShdw>
                </a:effectLst>
              </a:rPr>
              <a:t>;</a:t>
            </a:r>
          </a:p>
          <a:p>
            <a:r>
              <a:rPr lang="en-US" dirty="0"/>
              <a:t>Less than (&lt;)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lt</a:t>
            </a:r>
            <a:r>
              <a:rPr lang="en-US" dirty="0">
                <a:solidFill>
                  <a:srgbClr val="FF0000"/>
                </a:solidFill>
                <a:effectLst>
                  <a:outerShdw blurRad="38100" dist="38100" dir="2700000" algn="tl">
                    <a:srgbClr val="000000">
                      <a:alpha val="43137"/>
                    </a:srgbClr>
                  </a:outerShdw>
                </a:effectLst>
              </a:rPr>
              <a:t>;</a:t>
            </a:r>
          </a:p>
          <a:p>
            <a:r>
              <a:rPr lang="en-US" dirty="0"/>
              <a:t>Greater than (&gt;)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gt</a:t>
            </a:r>
            <a:r>
              <a:rPr lang="en-US" dirty="0">
                <a:solidFill>
                  <a:srgbClr val="FF0000"/>
                </a:solidFill>
                <a:effectLst>
                  <a:outerShdw blurRad="38100" dist="38100" dir="2700000" algn="tl">
                    <a:srgbClr val="000000">
                      <a:alpha val="43137"/>
                    </a:srgbClr>
                  </a:outerShdw>
                </a:effectLst>
              </a:rPr>
              <a:t>;</a:t>
            </a:r>
          </a:p>
          <a:p>
            <a:r>
              <a:rPr lang="en-US" dirty="0"/>
              <a:t>ampersand (&amp;) - </a:t>
            </a:r>
            <a:r>
              <a:rPr lang="en-US" dirty="0">
                <a:solidFill>
                  <a:srgbClr val="FF0000"/>
                </a:solidFill>
                <a:effectLst>
                  <a:outerShdw blurRad="38100" dist="38100" dir="2700000" algn="tl">
                    <a:srgbClr val="000000">
                      <a:alpha val="43137"/>
                    </a:srgbClr>
                  </a:outerShdw>
                </a:effectLst>
              </a:rPr>
              <a:t>&amp;amp;</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40</a:t>
            </a:fld>
            <a:endParaRPr lang="en-US"/>
          </a:p>
        </p:txBody>
      </p:sp>
    </p:spTree>
    <p:extLst>
      <p:ext uri="{BB962C8B-B14F-4D97-AF65-F5344CB8AC3E}">
        <p14:creationId xmlns:p14="http://schemas.microsoft.com/office/powerpoint/2010/main" val="10518010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Embedding Images</a:t>
            </a:r>
          </a:p>
        </p:txBody>
      </p:sp>
      <p:sp>
        <p:nvSpPr>
          <p:cNvPr id="3" name="Content Placeholder 2"/>
          <p:cNvSpPr>
            <a:spLocks noGrp="1"/>
          </p:cNvSpPr>
          <p:nvPr>
            <p:ph idx="1"/>
          </p:nvPr>
        </p:nvSpPr>
        <p:spPr/>
        <p:txBody>
          <a:bodyPr>
            <a:normAutofit/>
          </a:bodyPr>
          <a:lstStyle/>
          <a:p>
            <a:pPr marL="0" indent="0" algn="just">
              <a:buNone/>
            </a:pPr>
            <a:r>
              <a:rPr lang="en-US" dirty="0"/>
              <a:t>In HTML, we can embed the image as a</a:t>
            </a:r>
          </a:p>
          <a:p>
            <a:pPr lvl="1" algn="just"/>
            <a:r>
              <a:rPr lang="en-US" sz="2800" dirty="0"/>
              <a:t>Normal image</a:t>
            </a:r>
          </a:p>
          <a:p>
            <a:pPr lvl="1" algn="just"/>
            <a:r>
              <a:rPr lang="en-US" sz="2800" dirty="0"/>
              <a:t>Background image</a:t>
            </a:r>
          </a:p>
          <a:p>
            <a:pPr lvl="1" algn="just"/>
            <a:r>
              <a:rPr lang="en-US" sz="2800" dirty="0"/>
              <a:t>Link</a:t>
            </a:r>
          </a:p>
          <a:p>
            <a:pPr lvl="1" algn="just"/>
            <a:r>
              <a:rPr lang="en-US" sz="2800" dirty="0"/>
              <a:t>Single image with multiple links</a:t>
            </a:r>
          </a:p>
          <a:p>
            <a:pPr marL="0" indent="0" algn="just">
              <a:buNone/>
            </a:pPr>
            <a:r>
              <a:rPr lang="en-US" dirty="0"/>
              <a:t>	syntax: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img</a:t>
            </a: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rPr>
              <a:t>src</a:t>
            </a:r>
            <a:r>
              <a:rPr lang="en-US" dirty="0">
                <a:solidFill>
                  <a:srgbClr val="FF0000"/>
                </a:solidFill>
                <a:effectLst>
                  <a:outerShdw blurRad="38100" dist="38100" dir="2700000" algn="tl">
                    <a:srgbClr val="000000">
                      <a:alpha val="43137"/>
                    </a:srgbClr>
                  </a:outerShdw>
                </a:effectLst>
              </a:rPr>
              <a:t>="</a:t>
            </a:r>
            <a:r>
              <a:rPr lang="en-US" dirty="0">
                <a:solidFill>
                  <a:schemeClr val="accent2">
                    <a:lumMod val="75000"/>
                  </a:schemeClr>
                </a:solidFill>
                <a:effectLst>
                  <a:outerShdw blurRad="38100" dist="38100" dir="2700000" algn="tl">
                    <a:srgbClr val="000000">
                      <a:alpha val="43137"/>
                    </a:srgbClr>
                  </a:outerShdw>
                </a:effectLst>
              </a:rPr>
              <a:t>image name along with the path</a:t>
            </a:r>
            <a:r>
              <a:rPr lang="en-US" dirty="0">
                <a:solidFill>
                  <a:srgbClr val="FF0000"/>
                </a:solidFill>
                <a:effectLst>
                  <a:outerShdw blurRad="38100" dist="38100" dir="2700000" algn="tl">
                    <a:srgbClr val="000000">
                      <a:alpha val="43137"/>
                    </a:srgbClr>
                  </a:outerShdw>
                </a:effectLst>
              </a:rPr>
              <a:t>"&gt;</a:t>
            </a:r>
          </a:p>
          <a:p>
            <a:pPr algn="just"/>
            <a:r>
              <a:rPr lang="en-US" dirty="0"/>
              <a:t>Before embedding any media, always ensure that you have all the rights to use the file </a:t>
            </a:r>
          </a:p>
          <a:p>
            <a:pPr algn="just"/>
            <a:r>
              <a:rPr lang="en-US" dirty="0"/>
              <a:t>Sharing files on the web without reusable permission, is illegal</a:t>
            </a:r>
            <a:endParaRPr lang="en-US" sz="4000"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41</a:t>
            </a:fld>
            <a:endParaRPr lang="en-US"/>
          </a:p>
        </p:txBody>
      </p:sp>
    </p:spTree>
    <p:extLst>
      <p:ext uri="{BB962C8B-B14F-4D97-AF65-F5344CB8AC3E}">
        <p14:creationId xmlns:p14="http://schemas.microsoft.com/office/powerpoint/2010/main" val="21731701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Embedding Images</a:t>
            </a:r>
          </a:p>
        </p:txBody>
      </p:sp>
      <p:sp>
        <p:nvSpPr>
          <p:cNvPr id="3" name="Content Placeholder 2"/>
          <p:cNvSpPr>
            <a:spLocks noGrp="1"/>
          </p:cNvSpPr>
          <p:nvPr>
            <p:ph idx="1"/>
          </p:nvPr>
        </p:nvSpPr>
        <p:spPr/>
        <p:txBody>
          <a:bodyPr>
            <a:normAutofit/>
          </a:bodyPr>
          <a:lstStyle/>
          <a:p>
            <a:pPr marL="0" indent="0">
              <a:buNone/>
            </a:pPr>
            <a:r>
              <a:rPr lang="en-US" dirty="0"/>
              <a:t>We can embed an image in any one of the following ways</a:t>
            </a:r>
          </a:p>
          <a:p>
            <a:pPr lvl="1"/>
            <a:r>
              <a:rPr lang="en-US" sz="2800" dirty="0"/>
              <a:t>From the computer</a:t>
            </a:r>
          </a:p>
          <a:p>
            <a:pPr lvl="1"/>
            <a:r>
              <a:rPr lang="en-US" sz="2800" dirty="0"/>
              <a:t>Downloading from the internet</a:t>
            </a:r>
          </a:p>
          <a:p>
            <a:pPr lvl="1"/>
            <a:r>
              <a:rPr lang="en-US" sz="2800" dirty="0"/>
              <a:t>Via a link</a:t>
            </a:r>
          </a:p>
          <a:p>
            <a:r>
              <a:rPr lang="en-US" dirty="0"/>
              <a:t>Common </a:t>
            </a:r>
            <a:r>
              <a:rPr lang="en-US" dirty="0">
                <a:effectLst>
                  <a:outerShdw blurRad="38100" dist="38100" dir="2700000" algn="tl">
                    <a:srgbClr val="000000">
                      <a:alpha val="43137"/>
                    </a:srgbClr>
                  </a:outerShdw>
                </a:effectLst>
              </a:rPr>
              <a:t>image formats </a:t>
            </a:r>
            <a:r>
              <a:rPr lang="en-US" dirty="0"/>
              <a:t>supported by most web browsers are:</a:t>
            </a:r>
          </a:p>
          <a:p>
            <a:pPr lvl="1"/>
            <a:r>
              <a:rPr lang="en-US" dirty="0"/>
              <a:t>.</a:t>
            </a:r>
            <a:r>
              <a:rPr lang="en-US" sz="2800" dirty="0">
                <a:solidFill>
                  <a:schemeClr val="accent2">
                    <a:lumMod val="75000"/>
                  </a:schemeClr>
                </a:solidFill>
              </a:rPr>
              <a:t>jpg/.jpeg</a:t>
            </a:r>
          </a:p>
          <a:p>
            <a:pPr lvl="1"/>
            <a:r>
              <a:rPr lang="en-US" sz="2800" dirty="0">
                <a:solidFill>
                  <a:schemeClr val="accent2">
                    <a:lumMod val="75000"/>
                  </a:schemeClr>
                </a:solidFill>
              </a:rPr>
              <a:t>.</a:t>
            </a:r>
            <a:r>
              <a:rPr lang="en-US" sz="2800" dirty="0" err="1">
                <a:solidFill>
                  <a:schemeClr val="accent2">
                    <a:lumMod val="75000"/>
                  </a:schemeClr>
                </a:solidFill>
              </a:rPr>
              <a:t>png</a:t>
            </a:r>
            <a:endParaRPr lang="en-US" sz="2800" dirty="0">
              <a:solidFill>
                <a:schemeClr val="accent2">
                  <a:lumMod val="75000"/>
                </a:schemeClr>
              </a:solidFill>
            </a:endParaRPr>
          </a:p>
          <a:p>
            <a:pPr lvl="1"/>
            <a:r>
              <a:rPr lang="en-US" sz="2800" dirty="0">
                <a:solidFill>
                  <a:schemeClr val="accent2">
                    <a:lumMod val="75000"/>
                  </a:schemeClr>
                </a:solidFill>
              </a:rPr>
              <a:t>.gif</a:t>
            </a:r>
          </a:p>
          <a:p>
            <a:pPr lvl="1"/>
            <a:r>
              <a:rPr lang="en-US" sz="2800" dirty="0">
                <a:solidFill>
                  <a:schemeClr val="accent2">
                    <a:lumMod val="75000"/>
                  </a:schemeClr>
                </a:solidFill>
              </a:rPr>
              <a:t>.</a:t>
            </a:r>
            <a:r>
              <a:rPr lang="en-US" sz="2800" dirty="0" err="1">
                <a:solidFill>
                  <a:schemeClr val="accent2">
                    <a:lumMod val="75000"/>
                  </a:schemeClr>
                </a:solidFill>
              </a:rPr>
              <a:t>svg</a:t>
            </a:r>
            <a:endParaRPr lang="en-US" sz="4000" dirty="0">
              <a:solidFill>
                <a:schemeClr val="accent2">
                  <a:lumMod val="75000"/>
                </a:schemeClr>
              </a:solidFill>
            </a:endParaRP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42</a:t>
            </a:fld>
            <a:endParaRPr lang="en-US"/>
          </a:p>
        </p:txBody>
      </p:sp>
    </p:spTree>
    <p:extLst>
      <p:ext uri="{BB962C8B-B14F-4D97-AF65-F5344CB8AC3E}">
        <p14:creationId xmlns:p14="http://schemas.microsoft.com/office/powerpoint/2010/main" val="3540003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Attributes</a:t>
            </a:r>
          </a:p>
        </p:txBody>
      </p:sp>
      <p:sp>
        <p:nvSpPr>
          <p:cNvPr id="3" name="Content Placeholder 2"/>
          <p:cNvSpPr>
            <a:spLocks noGrp="1"/>
          </p:cNvSpPr>
          <p:nvPr>
            <p:ph idx="1"/>
          </p:nvPr>
        </p:nvSpPr>
        <p:spPr/>
        <p:txBody>
          <a:bodyPr/>
          <a:lstStyle/>
          <a:p>
            <a:pPr marL="0" indent="0">
              <a:buNone/>
            </a:pPr>
            <a:r>
              <a:rPr lang="en-US" dirty="0"/>
              <a:t>We can also use some more attributes for the image, such as:</a:t>
            </a:r>
          </a:p>
          <a:p>
            <a:r>
              <a:rPr lang="en-US" dirty="0"/>
              <a:t>Align</a:t>
            </a:r>
          </a:p>
          <a:p>
            <a:r>
              <a:rPr lang="en-US" dirty="0"/>
              <a:t>Border</a:t>
            </a:r>
          </a:p>
          <a:p>
            <a:r>
              <a:rPr lang="en-US" dirty="0"/>
              <a:t>Float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43</a:t>
            </a:fld>
            <a:endParaRPr lang="en-US"/>
          </a:p>
        </p:txBody>
      </p:sp>
    </p:spTree>
    <p:extLst>
      <p:ext uri="{BB962C8B-B14F-4D97-AF65-F5344CB8AC3E}">
        <p14:creationId xmlns:p14="http://schemas.microsoft.com/office/powerpoint/2010/main" val="233506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Maps</a:t>
            </a:r>
          </a:p>
        </p:txBody>
      </p:sp>
      <p:sp>
        <p:nvSpPr>
          <p:cNvPr id="3" name="Content Placeholder 2"/>
          <p:cNvSpPr>
            <a:spLocks noGrp="1"/>
          </p:cNvSpPr>
          <p:nvPr>
            <p:ph idx="1"/>
          </p:nvPr>
        </p:nvSpPr>
        <p:spPr/>
        <p:txBody>
          <a:bodyPr/>
          <a:lstStyle/>
          <a:p>
            <a:r>
              <a:rPr lang="en-US" dirty="0"/>
              <a:t>Image Maps are used to mark a particular area in an image</a:t>
            </a:r>
          </a:p>
          <a:p>
            <a:r>
              <a:rPr lang="en-US" dirty="0"/>
              <a:t>With this we can create multiple links in a single image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44</a:t>
            </a:fld>
            <a:endParaRPr lang="en-US"/>
          </a:p>
        </p:txBody>
      </p:sp>
    </p:spTree>
    <p:extLst>
      <p:ext uri="{BB962C8B-B14F-4D97-AF65-F5344CB8AC3E}">
        <p14:creationId xmlns:p14="http://schemas.microsoft.com/office/powerpoint/2010/main" val="611633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Embedding Media</a:t>
            </a:r>
          </a:p>
        </p:txBody>
      </p:sp>
      <p:sp>
        <p:nvSpPr>
          <p:cNvPr id="3" name="Content Placeholder 2"/>
          <p:cNvSpPr>
            <a:spLocks noGrp="1"/>
          </p:cNvSpPr>
          <p:nvPr>
            <p:ph idx="1"/>
          </p:nvPr>
        </p:nvSpPr>
        <p:spPr>
          <a:xfrm>
            <a:off x="838200" y="1348275"/>
            <a:ext cx="10515600" cy="4351338"/>
          </a:xfrm>
        </p:spPr>
        <p:txBody>
          <a:bodyPr>
            <a:normAutofit/>
          </a:bodyPr>
          <a:lstStyle/>
          <a:p>
            <a:pPr algn="just"/>
            <a:r>
              <a:rPr lang="en-US" dirty="0"/>
              <a:t>We can directly embed the media using audio and video tags </a:t>
            </a:r>
          </a:p>
          <a:p>
            <a:pPr algn="just"/>
            <a:r>
              <a:rPr lang="en-US" dirty="0"/>
              <a:t>Only 3 commonly used audio and video formats are allowed to be used </a:t>
            </a:r>
          </a:p>
          <a:p>
            <a:pPr algn="just"/>
            <a:r>
              <a:rPr lang="en-US" dirty="0"/>
              <a:t>Web browser does not require any plugin to play those Audio/Video formats  </a:t>
            </a:r>
          </a:p>
          <a:p>
            <a:pPr marL="0" indent="0" algn="just">
              <a:buNone/>
            </a:pPr>
            <a:r>
              <a:rPr lang="en-US" dirty="0"/>
              <a:t>    </a:t>
            </a:r>
            <a:r>
              <a:rPr lang="en-US" b="1" dirty="0"/>
              <a:t>HTML5 Audio Formats			       HTML5 Video formats</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45</a:t>
            </a:fld>
            <a:endParaRPr lang="en-US"/>
          </a:p>
        </p:txBody>
      </p:sp>
      <p:pic>
        <p:nvPicPr>
          <p:cNvPr id="7" name="Picture 6"/>
          <p:cNvPicPr>
            <a:picLocks noChangeAspect="1"/>
          </p:cNvPicPr>
          <p:nvPr/>
        </p:nvPicPr>
        <p:blipFill>
          <a:blip r:embed="rId2"/>
          <a:stretch>
            <a:fillRect/>
          </a:stretch>
        </p:blipFill>
        <p:spPr>
          <a:xfrm>
            <a:off x="1291226" y="4278862"/>
            <a:ext cx="3390554" cy="1966956"/>
          </a:xfrm>
          <a:prstGeom prst="rect">
            <a:avLst/>
          </a:prstGeom>
        </p:spPr>
      </p:pic>
      <p:pic>
        <p:nvPicPr>
          <p:cNvPr id="8" name="Picture 7"/>
          <p:cNvPicPr>
            <a:picLocks noChangeAspect="1"/>
          </p:cNvPicPr>
          <p:nvPr/>
        </p:nvPicPr>
        <p:blipFill>
          <a:blip r:embed="rId3"/>
          <a:stretch>
            <a:fillRect/>
          </a:stretch>
        </p:blipFill>
        <p:spPr>
          <a:xfrm>
            <a:off x="6748219" y="4278862"/>
            <a:ext cx="3724761" cy="2077488"/>
          </a:xfrm>
          <a:prstGeom prst="rect">
            <a:avLst/>
          </a:prstGeom>
        </p:spPr>
      </p:pic>
    </p:spTree>
    <p:extLst>
      <p:ext uri="{BB962C8B-B14F-4D97-AF65-F5344CB8AC3E}">
        <p14:creationId xmlns:p14="http://schemas.microsoft.com/office/powerpoint/2010/main" val="1660341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Media Attributes</a:t>
            </a:r>
          </a:p>
        </p:txBody>
      </p:sp>
      <p:sp>
        <p:nvSpPr>
          <p:cNvPr id="3" name="Content Placeholder 2"/>
          <p:cNvSpPr>
            <a:spLocks noGrp="1"/>
          </p:cNvSpPr>
          <p:nvPr>
            <p:ph idx="1"/>
          </p:nvPr>
        </p:nvSpPr>
        <p:spPr/>
        <p:txBody>
          <a:bodyPr/>
          <a:lstStyle/>
          <a:p>
            <a:r>
              <a:rPr lang="en-US" dirty="0"/>
              <a:t>Preload</a:t>
            </a:r>
          </a:p>
          <a:p>
            <a:r>
              <a:rPr lang="en-US" dirty="0" err="1"/>
              <a:t>Autoplay</a:t>
            </a:r>
            <a:endParaRPr lang="en-US" dirty="0"/>
          </a:p>
          <a:p>
            <a:r>
              <a:rPr lang="en-US" dirty="0"/>
              <a:t>Loop</a:t>
            </a:r>
          </a:p>
          <a:p>
            <a:r>
              <a:rPr lang="en-US" dirty="0"/>
              <a:t>Mute</a:t>
            </a:r>
          </a:p>
          <a:p>
            <a:r>
              <a:rPr lang="en-US" dirty="0"/>
              <a:t>Media Group</a:t>
            </a:r>
          </a:p>
          <a:p>
            <a:r>
              <a:rPr lang="en-US" dirty="0"/>
              <a:t>Poster (Only for video tag)</a:t>
            </a:r>
          </a:p>
          <a:p>
            <a:r>
              <a:rPr lang="en-US" dirty="0"/>
              <a:t>Width &amp; height (Only for video tag)</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46</a:t>
            </a:fld>
            <a:endParaRPr lang="en-US"/>
          </a:p>
        </p:txBody>
      </p:sp>
    </p:spTree>
    <p:extLst>
      <p:ext uri="{BB962C8B-B14F-4D97-AF65-F5344CB8AC3E}">
        <p14:creationId xmlns:p14="http://schemas.microsoft.com/office/powerpoint/2010/main" val="28609819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HTML Elements</a:t>
            </a:r>
          </a:p>
        </p:txBody>
      </p:sp>
      <p:sp>
        <p:nvSpPr>
          <p:cNvPr id="3" name="Content Placeholder 2"/>
          <p:cNvSpPr>
            <a:spLocks noGrp="1"/>
          </p:cNvSpPr>
          <p:nvPr>
            <p:ph idx="1"/>
          </p:nvPr>
        </p:nvSpPr>
        <p:spPr/>
        <p:txBody>
          <a:bodyPr>
            <a:normAutofit/>
          </a:bodyPr>
          <a:lstStyle/>
          <a:p>
            <a:r>
              <a:rPr lang="en-US" dirty="0"/>
              <a:t>Block level elements</a:t>
            </a:r>
          </a:p>
          <a:p>
            <a:pPr lvl="1"/>
            <a:r>
              <a:rPr lang="en-US" dirty="0"/>
              <a:t>Block level elements are used to create individual blocks in the HTML document</a:t>
            </a:r>
          </a:p>
          <a:p>
            <a:pPr lvl="1"/>
            <a:r>
              <a:rPr lang="en-US" dirty="0"/>
              <a:t>Each block level element starts on a new line</a:t>
            </a:r>
          </a:p>
          <a:p>
            <a:pPr lvl="1"/>
            <a:r>
              <a:rPr lang="en-US" dirty="0"/>
              <a:t>It also creates a line break at the start and end on its own</a:t>
            </a:r>
          </a:p>
          <a:p>
            <a:pPr lvl="1"/>
            <a:r>
              <a:rPr lang="en-US" dirty="0"/>
              <a:t>We can create a block element inside another block element</a:t>
            </a:r>
          </a:p>
          <a:p>
            <a:r>
              <a:rPr lang="en-US" dirty="0"/>
              <a:t>Inline elements</a:t>
            </a:r>
          </a:p>
          <a:p>
            <a:pPr lvl="1"/>
            <a:r>
              <a:rPr lang="en-US" dirty="0"/>
              <a:t>Inline elements can be added anywhere in the line</a:t>
            </a:r>
          </a:p>
          <a:p>
            <a:pPr lvl="1"/>
            <a:r>
              <a:rPr lang="en-US" dirty="0"/>
              <a:t>It won't create any line break</a:t>
            </a:r>
          </a:p>
          <a:p>
            <a:pPr lvl="1"/>
            <a:r>
              <a:rPr lang="en-US" dirty="0"/>
              <a:t>They are individual tags</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47</a:t>
            </a:fld>
            <a:endParaRPr lang="en-US"/>
          </a:p>
        </p:txBody>
      </p:sp>
    </p:spTree>
    <p:extLst>
      <p:ext uri="{BB962C8B-B14F-4D97-AF65-F5344CB8AC3E}">
        <p14:creationId xmlns:p14="http://schemas.microsoft.com/office/powerpoint/2010/main" val="1531674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Level Elements</a:t>
            </a:r>
          </a:p>
        </p:txBody>
      </p:sp>
      <p:sp>
        <p:nvSpPr>
          <p:cNvPr id="3" name="Content Placeholder 2"/>
          <p:cNvSpPr>
            <a:spLocks noGrp="1"/>
          </p:cNvSpPr>
          <p:nvPr>
            <p:ph idx="1"/>
          </p:nvPr>
        </p:nvSpPr>
        <p:spPr/>
        <p:txBody>
          <a:bodyPr>
            <a:normAutofit lnSpcReduction="10000"/>
          </a:bodyPr>
          <a:lstStyle/>
          <a:p>
            <a:pPr>
              <a:lnSpc>
                <a:spcPct val="150000"/>
              </a:lnSpc>
            </a:pPr>
            <a:r>
              <a:rPr lang="en-US" dirty="0"/>
              <a:t>Paragraph Tag</a:t>
            </a:r>
          </a:p>
          <a:p>
            <a:pPr>
              <a:lnSpc>
                <a:spcPct val="150000"/>
              </a:lnSpc>
            </a:pPr>
            <a:r>
              <a:rPr lang="en-US" dirty="0"/>
              <a:t>Heading Tags</a:t>
            </a:r>
          </a:p>
          <a:p>
            <a:pPr>
              <a:lnSpc>
                <a:spcPct val="150000"/>
              </a:lnSpc>
            </a:pPr>
            <a:r>
              <a:rPr lang="en-US" dirty="0"/>
              <a:t>List Tags</a:t>
            </a:r>
          </a:p>
          <a:p>
            <a:pPr>
              <a:lnSpc>
                <a:spcPct val="150000"/>
              </a:lnSpc>
            </a:pPr>
            <a:r>
              <a:rPr lang="en-US" dirty="0" err="1"/>
              <a:t>Div</a:t>
            </a:r>
            <a:r>
              <a:rPr lang="en-US" dirty="0"/>
              <a:t> Tag</a:t>
            </a:r>
          </a:p>
          <a:p>
            <a:pPr>
              <a:lnSpc>
                <a:spcPct val="150000"/>
              </a:lnSpc>
            </a:pPr>
            <a:r>
              <a:rPr lang="en-US" dirty="0"/>
              <a:t>Form Tag</a:t>
            </a:r>
          </a:p>
          <a:p>
            <a:pPr>
              <a:lnSpc>
                <a:spcPct val="150000"/>
              </a:lnSpc>
            </a:pPr>
            <a:r>
              <a:rPr lang="en-US" dirty="0"/>
              <a:t>Table Tag</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dirty="0"/>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48</a:t>
            </a:fld>
            <a:endParaRPr lang="en-US"/>
          </a:p>
        </p:txBody>
      </p:sp>
    </p:spTree>
    <p:extLst>
      <p:ext uri="{BB962C8B-B14F-4D97-AF65-F5344CB8AC3E}">
        <p14:creationId xmlns:p14="http://schemas.microsoft.com/office/powerpoint/2010/main" val="2054250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Elements</a:t>
            </a:r>
          </a:p>
        </p:txBody>
      </p:sp>
      <p:sp>
        <p:nvSpPr>
          <p:cNvPr id="3" name="Content Placeholder 2"/>
          <p:cNvSpPr>
            <a:spLocks noGrp="1"/>
          </p:cNvSpPr>
          <p:nvPr>
            <p:ph idx="1"/>
          </p:nvPr>
        </p:nvSpPr>
        <p:spPr/>
        <p:txBody>
          <a:bodyPr/>
          <a:lstStyle/>
          <a:p>
            <a:pPr>
              <a:lnSpc>
                <a:spcPct val="150000"/>
              </a:lnSpc>
            </a:pPr>
            <a:r>
              <a:rPr lang="en-US" dirty="0"/>
              <a:t>Bold, Italic, Underline</a:t>
            </a:r>
          </a:p>
          <a:p>
            <a:pPr>
              <a:lnSpc>
                <a:spcPct val="150000"/>
              </a:lnSpc>
            </a:pPr>
            <a:r>
              <a:rPr lang="en-US" dirty="0"/>
              <a:t>Superscript and Subscript</a:t>
            </a:r>
          </a:p>
          <a:p>
            <a:pPr>
              <a:lnSpc>
                <a:spcPct val="150000"/>
              </a:lnSpc>
            </a:pPr>
            <a:r>
              <a:rPr lang="en-US" dirty="0"/>
              <a:t>Emphasize, Big, Small, Strong</a:t>
            </a:r>
          </a:p>
          <a:p>
            <a:pPr>
              <a:lnSpc>
                <a:spcPct val="150000"/>
              </a:lnSpc>
            </a:pPr>
            <a:r>
              <a:rPr lang="it-IT" dirty="0"/>
              <a:t>Insert, Delete, Code, Cite</a:t>
            </a:r>
          </a:p>
          <a:p>
            <a:pPr>
              <a:lnSpc>
                <a:spcPct val="150000"/>
              </a:lnSpc>
            </a:pPr>
            <a:r>
              <a:rPr lang="en-US" dirty="0"/>
              <a:t>Span</a:t>
            </a:r>
          </a:p>
          <a:p>
            <a:pPr marL="0" indent="0">
              <a:buNone/>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49</a:t>
            </a:fld>
            <a:endParaRPr lang="en-US"/>
          </a:p>
        </p:txBody>
      </p:sp>
    </p:spTree>
    <p:extLst>
      <p:ext uri="{BB962C8B-B14F-4D97-AF65-F5344CB8AC3E}">
        <p14:creationId xmlns:p14="http://schemas.microsoft.com/office/powerpoint/2010/main" val="10313590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 tag</a:t>
            </a:r>
          </a:p>
        </p:txBody>
      </p:sp>
      <p:sp>
        <p:nvSpPr>
          <p:cNvPr id="3" name="Content Placeholder 2"/>
          <p:cNvSpPr>
            <a:spLocks noGrp="1"/>
          </p:cNvSpPr>
          <p:nvPr>
            <p:ph idx="1"/>
          </p:nvPr>
        </p:nvSpPr>
        <p:spPr/>
        <p:txBody>
          <a:bodyPr>
            <a:normAutofit/>
          </a:bodyPr>
          <a:lstStyle/>
          <a:p>
            <a:pPr algn="just"/>
            <a:r>
              <a:rPr lang="en-US" dirty="0"/>
              <a:t>Division or </a:t>
            </a:r>
            <a:r>
              <a:rPr lang="en-US" dirty="0">
                <a:solidFill>
                  <a:schemeClr val="accent2">
                    <a:lumMod val="75000"/>
                  </a:schemeClr>
                </a:solidFill>
                <a:effectLst>
                  <a:outerShdw blurRad="38100" dist="38100" dir="2700000" algn="tl">
                    <a:srgbClr val="000000">
                      <a:alpha val="43137"/>
                    </a:srgbClr>
                  </a:outerShdw>
                </a:effectLst>
              </a:rPr>
              <a:t>div </a:t>
            </a:r>
            <a:r>
              <a:rPr lang="en-US" dirty="0"/>
              <a:t>tag is a block level tag</a:t>
            </a:r>
          </a:p>
          <a:p>
            <a:pPr algn="just"/>
            <a:r>
              <a:rPr lang="en-US" dirty="0"/>
              <a:t>With the help of </a:t>
            </a:r>
            <a:r>
              <a:rPr lang="en-US" dirty="0">
                <a:effectLst>
                  <a:outerShdw blurRad="38100" dist="38100" dir="2700000" algn="tl">
                    <a:srgbClr val="000000">
                      <a:alpha val="43137"/>
                    </a:srgbClr>
                  </a:outerShdw>
                </a:effectLst>
              </a:rPr>
              <a:t>div </a:t>
            </a:r>
            <a:r>
              <a:rPr lang="en-US" dirty="0"/>
              <a:t>tag and </a:t>
            </a:r>
            <a:r>
              <a:rPr lang="en-US" dirty="0">
                <a:effectLst>
                  <a:outerShdw blurRad="38100" dist="38100" dir="2700000" algn="tl">
                    <a:srgbClr val="000000">
                      <a:alpha val="43137"/>
                    </a:srgbClr>
                  </a:outerShdw>
                </a:effectLst>
              </a:rPr>
              <a:t>CSS</a:t>
            </a:r>
            <a:r>
              <a:rPr lang="en-US" dirty="0"/>
              <a:t>, we can create:</a:t>
            </a:r>
          </a:p>
          <a:p>
            <a:pPr lvl="1" algn="just"/>
            <a:r>
              <a:rPr lang="en-US" sz="2800" dirty="0"/>
              <a:t>Groups for a set of data presentation and</a:t>
            </a:r>
          </a:p>
          <a:p>
            <a:pPr lvl="1" algn="just"/>
            <a:r>
              <a:rPr lang="en-US" sz="2800" dirty="0"/>
              <a:t>Web layouts</a:t>
            </a:r>
          </a:p>
          <a:p>
            <a:pPr algn="just"/>
            <a:r>
              <a:rPr lang="en-US" dirty="0"/>
              <a:t>We can create the same look using </a:t>
            </a:r>
            <a:r>
              <a:rPr lang="en-US" dirty="0">
                <a:effectLst>
                  <a:outerShdw blurRad="38100" dist="38100" dir="2700000" algn="tl">
                    <a:srgbClr val="000000">
                      <a:alpha val="43137"/>
                    </a:srgbClr>
                  </a:outerShdw>
                </a:effectLst>
              </a:rPr>
              <a:t>Table tag </a:t>
            </a:r>
            <a:r>
              <a:rPr lang="en-US" dirty="0"/>
              <a:t>also </a:t>
            </a:r>
          </a:p>
          <a:p>
            <a:pPr algn="just"/>
            <a:r>
              <a:rPr lang="en-US" dirty="0"/>
              <a:t>But that is not a good practice for creating blocks or layouts</a:t>
            </a:r>
          </a:p>
          <a:p>
            <a:pPr algn="just"/>
            <a:r>
              <a:rPr lang="en-US" dirty="0"/>
              <a:t>Creating a block or layout using </a:t>
            </a:r>
            <a:r>
              <a:rPr lang="en-US" dirty="0">
                <a:effectLst>
                  <a:outerShdw blurRad="38100" dist="38100" dir="2700000" algn="tl">
                    <a:srgbClr val="000000">
                      <a:alpha val="43137"/>
                    </a:srgbClr>
                  </a:outerShdw>
                </a:effectLst>
              </a:rPr>
              <a:t>div</a:t>
            </a:r>
            <a:r>
              <a:rPr lang="en-US" dirty="0"/>
              <a:t> tag is more easy and flexible</a:t>
            </a:r>
          </a:p>
          <a:p>
            <a:pPr algn="just"/>
            <a:r>
              <a:rPr lang="en-US" dirty="0"/>
              <a:t>But it requires lot of practice to become an expert in div tag for creating good layouts</a:t>
            </a:r>
            <a:endParaRPr lang="en-US" sz="4000" dirty="0"/>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50</a:t>
            </a:fld>
            <a:endParaRPr lang="en-US"/>
          </a:p>
        </p:txBody>
      </p:sp>
    </p:spTree>
    <p:extLst>
      <p:ext uri="{BB962C8B-B14F-4D97-AF65-F5344CB8AC3E}">
        <p14:creationId xmlns:p14="http://schemas.microsoft.com/office/powerpoint/2010/main" val="24242116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 tags</a:t>
            </a:r>
          </a:p>
        </p:txBody>
      </p:sp>
      <p:sp>
        <p:nvSpPr>
          <p:cNvPr id="3" name="Content Placeholder 2"/>
          <p:cNvSpPr>
            <a:spLocks noGrp="1"/>
          </p:cNvSpPr>
          <p:nvPr>
            <p:ph idx="1"/>
          </p:nvPr>
        </p:nvSpPr>
        <p:spPr/>
        <p:txBody>
          <a:bodyPr/>
          <a:lstStyle/>
          <a:p>
            <a:pPr algn="just">
              <a:lnSpc>
                <a:spcPct val="150000"/>
              </a:lnSpc>
            </a:pPr>
            <a:r>
              <a:rPr lang="en-US" dirty="0"/>
              <a:t>Span tag can be</a:t>
            </a:r>
          </a:p>
          <a:p>
            <a:pPr algn="just">
              <a:lnSpc>
                <a:spcPct val="150000"/>
              </a:lnSpc>
            </a:pPr>
            <a:r>
              <a:rPr lang="en-US" dirty="0"/>
              <a:t>Used to group the inline elements</a:t>
            </a:r>
          </a:p>
          <a:p>
            <a:pPr algn="just">
              <a:lnSpc>
                <a:spcPct val="150000"/>
              </a:lnSpc>
            </a:pPr>
            <a:r>
              <a:rPr lang="en-US" dirty="0"/>
              <a:t>Used to set different styles for a particular section</a:t>
            </a:r>
          </a:p>
          <a:p>
            <a:pPr algn="just">
              <a:lnSpc>
                <a:spcPct val="150000"/>
              </a:lnSpc>
            </a:pPr>
            <a:r>
              <a:rPr lang="en-US" dirty="0"/>
              <a:t>Inserted anywhere inside any tag</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51</a:t>
            </a:fld>
            <a:endParaRPr lang="en-US"/>
          </a:p>
        </p:txBody>
      </p:sp>
    </p:spTree>
    <p:extLst>
      <p:ext uri="{BB962C8B-B14F-4D97-AF65-F5344CB8AC3E}">
        <p14:creationId xmlns:p14="http://schemas.microsoft.com/office/powerpoint/2010/main" val="11115056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Layouts</a:t>
            </a:r>
          </a:p>
        </p:txBody>
      </p:sp>
      <p:sp>
        <p:nvSpPr>
          <p:cNvPr id="3" name="Content Placeholder 2"/>
          <p:cNvSpPr>
            <a:spLocks noGrp="1"/>
          </p:cNvSpPr>
          <p:nvPr>
            <p:ph idx="1"/>
          </p:nvPr>
        </p:nvSpPr>
        <p:spPr/>
        <p:txBody>
          <a:bodyPr/>
          <a:lstStyle/>
          <a:p>
            <a:r>
              <a:rPr lang="en-US" dirty="0"/>
              <a:t>In HTML5 we can also create layouts without the div tag</a:t>
            </a:r>
          </a:p>
          <a:p>
            <a:r>
              <a:rPr lang="en-US" dirty="0"/>
              <a:t>For each part of the webpage, we have the layout elements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&lt;header&gt; </a:t>
            </a:r>
            <a:r>
              <a:rPr lang="en-US" dirty="0"/>
              <a:t>- Page headers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nav</a:t>
            </a:r>
            <a:r>
              <a:rPr lang="en-US" dirty="0">
                <a:solidFill>
                  <a:srgbClr val="FF0000"/>
                </a:solidFill>
                <a:effectLst>
                  <a:outerShdw blurRad="38100" dist="38100" dir="2700000" algn="tl">
                    <a:srgbClr val="000000">
                      <a:alpha val="43137"/>
                    </a:srgbClr>
                  </a:outerShdw>
                </a:effectLst>
              </a:rPr>
              <a:t>&gt; </a:t>
            </a:r>
            <a:r>
              <a:rPr lang="en-US" dirty="0"/>
              <a:t>- Navigations or Links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&lt;section&gt; </a:t>
            </a:r>
            <a:r>
              <a:rPr lang="en-US" dirty="0"/>
              <a:t>- Document sections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&lt;article&gt; </a:t>
            </a:r>
            <a:r>
              <a:rPr lang="en-US" dirty="0"/>
              <a:t>- Articles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&lt;aside&gt; </a:t>
            </a:r>
            <a:r>
              <a:rPr lang="en-US" dirty="0"/>
              <a:t>- Sidebar contents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&lt;footer&gt; </a:t>
            </a:r>
            <a:r>
              <a:rPr lang="en-US" dirty="0"/>
              <a:t>- Page footer</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52</a:t>
            </a:fld>
            <a:endParaRPr lang="en-US"/>
          </a:p>
        </p:txBody>
      </p:sp>
    </p:spTree>
    <p:extLst>
      <p:ext uri="{BB962C8B-B14F-4D97-AF65-F5344CB8AC3E}">
        <p14:creationId xmlns:p14="http://schemas.microsoft.com/office/powerpoint/2010/main" val="11847615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Web Forms</a:t>
            </a:r>
          </a:p>
        </p:txBody>
      </p:sp>
      <p:sp>
        <p:nvSpPr>
          <p:cNvPr id="3" name="Content Placeholder 2"/>
          <p:cNvSpPr>
            <a:spLocks noGrp="1"/>
          </p:cNvSpPr>
          <p:nvPr>
            <p:ph idx="1"/>
          </p:nvPr>
        </p:nvSpPr>
        <p:spPr>
          <a:xfrm>
            <a:off x="838201" y="1533963"/>
            <a:ext cx="5997278" cy="4351338"/>
          </a:xfrm>
        </p:spPr>
        <p:txBody>
          <a:bodyPr>
            <a:normAutofit fontScale="92500" lnSpcReduction="20000"/>
          </a:bodyPr>
          <a:lstStyle/>
          <a:p>
            <a:pPr>
              <a:lnSpc>
                <a:spcPct val="150000"/>
              </a:lnSpc>
            </a:pPr>
            <a:r>
              <a:rPr lang="en-US" dirty="0"/>
              <a:t>Forms are generally used to collect some information from the user</a:t>
            </a:r>
          </a:p>
          <a:p>
            <a:pPr>
              <a:lnSpc>
                <a:spcPct val="150000"/>
              </a:lnSpc>
            </a:pPr>
            <a:r>
              <a:rPr lang="en-US" dirty="0"/>
              <a:t>It can be a</a:t>
            </a:r>
          </a:p>
          <a:p>
            <a:pPr lvl="1">
              <a:lnSpc>
                <a:spcPct val="150000"/>
              </a:lnSpc>
            </a:pPr>
            <a:r>
              <a:rPr lang="en-US" sz="2800" dirty="0">
                <a:effectLst>
                  <a:outerShdw blurRad="38100" dist="38100" dir="2700000" algn="tl">
                    <a:srgbClr val="000000">
                      <a:alpha val="43137"/>
                    </a:srgbClr>
                  </a:outerShdw>
                </a:effectLst>
              </a:rPr>
              <a:t>Registration Form</a:t>
            </a:r>
          </a:p>
          <a:p>
            <a:pPr lvl="1">
              <a:lnSpc>
                <a:spcPct val="150000"/>
              </a:lnSpc>
            </a:pPr>
            <a:r>
              <a:rPr lang="en-US" sz="2800" dirty="0"/>
              <a:t>Login Form</a:t>
            </a:r>
          </a:p>
          <a:p>
            <a:pPr lvl="1">
              <a:lnSpc>
                <a:spcPct val="150000"/>
              </a:lnSpc>
            </a:pPr>
            <a:r>
              <a:rPr lang="en-US" sz="2800" dirty="0"/>
              <a:t>Survey</a:t>
            </a:r>
          </a:p>
          <a:p>
            <a:pPr lvl="1">
              <a:lnSpc>
                <a:spcPct val="150000"/>
              </a:lnSpc>
            </a:pPr>
            <a:r>
              <a:rPr lang="en-US" sz="2800" dirty="0"/>
              <a:t>Billing Form</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53</a:t>
            </a:fld>
            <a:endParaRPr lang="en-US"/>
          </a:p>
        </p:txBody>
      </p:sp>
      <p:pic>
        <p:nvPicPr>
          <p:cNvPr id="7" name="Picture 6"/>
          <p:cNvPicPr>
            <a:picLocks noChangeAspect="1"/>
          </p:cNvPicPr>
          <p:nvPr/>
        </p:nvPicPr>
        <p:blipFill>
          <a:blip r:embed="rId2"/>
          <a:stretch>
            <a:fillRect/>
          </a:stretch>
        </p:blipFill>
        <p:spPr>
          <a:xfrm>
            <a:off x="6835479" y="1779255"/>
            <a:ext cx="4927233" cy="4017478"/>
          </a:xfrm>
          <a:prstGeom prst="rect">
            <a:avLst/>
          </a:prstGeom>
        </p:spPr>
      </p:pic>
    </p:spTree>
    <p:extLst>
      <p:ext uri="{BB962C8B-B14F-4D97-AF65-F5344CB8AC3E}">
        <p14:creationId xmlns:p14="http://schemas.microsoft.com/office/powerpoint/2010/main" val="15077016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Elements</a:t>
            </a:r>
          </a:p>
        </p:txBody>
      </p:sp>
      <p:sp>
        <p:nvSpPr>
          <p:cNvPr id="3" name="Content Placeholder 2"/>
          <p:cNvSpPr>
            <a:spLocks noGrp="1"/>
          </p:cNvSpPr>
          <p:nvPr>
            <p:ph idx="1"/>
          </p:nvPr>
        </p:nvSpPr>
        <p:spPr/>
        <p:txBody>
          <a:bodyPr/>
          <a:lstStyle/>
          <a:p>
            <a:r>
              <a:rPr lang="en-US" dirty="0"/>
              <a:t>Label</a:t>
            </a:r>
          </a:p>
          <a:p>
            <a:r>
              <a:rPr lang="en-US" dirty="0"/>
              <a:t>Input</a:t>
            </a:r>
          </a:p>
          <a:p>
            <a:r>
              <a:rPr lang="en-US" dirty="0"/>
              <a:t>Text Area</a:t>
            </a:r>
          </a:p>
          <a:p>
            <a:r>
              <a:rPr lang="en-US" dirty="0"/>
              <a:t>Select</a:t>
            </a:r>
          </a:p>
          <a:p>
            <a:r>
              <a:rPr lang="en-US" dirty="0" err="1"/>
              <a:t>Datalist</a:t>
            </a:r>
            <a:endParaRPr lang="en-US" dirty="0"/>
          </a:p>
          <a:p>
            <a:r>
              <a:rPr lang="en-US" dirty="0"/>
              <a:t>Output</a:t>
            </a:r>
          </a:p>
          <a:p>
            <a:r>
              <a:rPr lang="en-US" dirty="0" err="1"/>
              <a:t>Fieldset</a:t>
            </a:r>
            <a:endParaRPr lang="en-US" dirty="0"/>
          </a:p>
          <a:p>
            <a:r>
              <a:rPr lang="en-US" dirty="0"/>
              <a:t>Button</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54</a:t>
            </a:fld>
            <a:endParaRPr lang="en-US"/>
          </a:p>
        </p:txBody>
      </p:sp>
    </p:spTree>
    <p:extLst>
      <p:ext uri="{BB962C8B-B14F-4D97-AF65-F5344CB8AC3E}">
        <p14:creationId xmlns:p14="http://schemas.microsoft.com/office/powerpoint/2010/main" val="1115238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Types</a:t>
            </a:r>
          </a:p>
        </p:txBody>
      </p:sp>
      <p:sp>
        <p:nvSpPr>
          <p:cNvPr id="3" name="Content Placeholder 2"/>
          <p:cNvSpPr>
            <a:spLocks noGrp="1"/>
          </p:cNvSpPr>
          <p:nvPr>
            <p:ph idx="1"/>
          </p:nvPr>
        </p:nvSpPr>
        <p:spPr/>
        <p:txBody>
          <a:bodyPr/>
          <a:lstStyle/>
          <a:p>
            <a:pPr algn="just"/>
            <a:r>
              <a:rPr lang="en-US" dirty="0"/>
              <a:t>We can use any one of the following input types based on our requirement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55</a:t>
            </a:fld>
            <a:endParaRPr lang="en-US"/>
          </a:p>
        </p:txBody>
      </p:sp>
      <p:pic>
        <p:nvPicPr>
          <p:cNvPr id="8" name="Picture 7"/>
          <p:cNvPicPr>
            <a:picLocks noChangeAspect="1"/>
          </p:cNvPicPr>
          <p:nvPr/>
        </p:nvPicPr>
        <p:blipFill>
          <a:blip r:embed="rId2"/>
          <a:stretch>
            <a:fillRect/>
          </a:stretch>
        </p:blipFill>
        <p:spPr>
          <a:xfrm>
            <a:off x="2209800" y="3197010"/>
            <a:ext cx="7248525" cy="2571750"/>
          </a:xfrm>
          <a:prstGeom prst="rect">
            <a:avLst/>
          </a:prstGeom>
        </p:spPr>
      </p:pic>
    </p:spTree>
    <p:extLst>
      <p:ext uri="{BB962C8B-B14F-4D97-AF65-F5344CB8AC3E}">
        <p14:creationId xmlns:p14="http://schemas.microsoft.com/office/powerpoint/2010/main" val="2935958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 Element</a:t>
            </a:r>
          </a:p>
        </p:txBody>
      </p:sp>
      <p:sp>
        <p:nvSpPr>
          <p:cNvPr id="3" name="Content Placeholder 2"/>
          <p:cNvSpPr>
            <a:spLocks noGrp="1"/>
          </p:cNvSpPr>
          <p:nvPr>
            <p:ph idx="1"/>
          </p:nvPr>
        </p:nvSpPr>
        <p:spPr/>
        <p:txBody>
          <a:bodyPr>
            <a:normAutofit/>
          </a:bodyPr>
          <a:lstStyle/>
          <a:p>
            <a:pPr algn="just">
              <a:lnSpc>
                <a:spcPct val="100000"/>
              </a:lnSpc>
              <a:spcBef>
                <a:spcPts val="600"/>
              </a:spcBef>
              <a:spcAft>
                <a:spcPts val="600"/>
              </a:spcAft>
            </a:pPr>
            <a:r>
              <a:rPr lang="en-US" dirty="0"/>
              <a:t>Button element is used to perform an action when the button is clicked</a:t>
            </a:r>
          </a:p>
          <a:p>
            <a:pPr marL="0" indent="0" algn="just">
              <a:lnSpc>
                <a:spcPct val="100000"/>
              </a:lnSpc>
              <a:spcBef>
                <a:spcPts val="600"/>
              </a:spcBef>
              <a:spcAft>
                <a:spcPts val="600"/>
              </a:spcAft>
              <a:buNone/>
            </a:pPr>
            <a:r>
              <a:rPr lang="en-US" b="1" dirty="0"/>
              <a:t>For </a:t>
            </a:r>
            <a:r>
              <a:rPr lang="en-US" b="1" dirty="0" err="1"/>
              <a:t>eg</a:t>
            </a:r>
            <a:r>
              <a:rPr lang="en-US" b="1" dirty="0"/>
              <a:t>:</a:t>
            </a:r>
          </a:p>
          <a:p>
            <a:pPr lvl="1" algn="just">
              <a:lnSpc>
                <a:spcPct val="100000"/>
              </a:lnSpc>
              <a:spcBef>
                <a:spcPts val="600"/>
              </a:spcBef>
              <a:spcAft>
                <a:spcPts val="600"/>
              </a:spcAft>
            </a:pPr>
            <a:r>
              <a:rPr lang="en-US" sz="2800" dirty="0"/>
              <a:t>store the input data to the database</a:t>
            </a:r>
          </a:p>
          <a:p>
            <a:pPr lvl="1" algn="just">
              <a:lnSpc>
                <a:spcPct val="100000"/>
              </a:lnSpc>
              <a:spcBef>
                <a:spcPts val="600"/>
              </a:spcBef>
              <a:spcAft>
                <a:spcPts val="600"/>
              </a:spcAft>
            </a:pPr>
            <a:r>
              <a:rPr lang="en-US" sz="2800" dirty="0"/>
              <a:t>send the form values to another page or script, to perform another action</a:t>
            </a:r>
          </a:p>
          <a:p>
            <a:pPr lvl="1" algn="just">
              <a:lnSpc>
                <a:spcPct val="100000"/>
              </a:lnSpc>
              <a:spcBef>
                <a:spcPts val="600"/>
              </a:spcBef>
              <a:spcAft>
                <a:spcPts val="600"/>
              </a:spcAft>
            </a:pPr>
            <a:r>
              <a:rPr lang="en-US" sz="2800" dirty="0"/>
              <a:t>display some message on the same page</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56</a:t>
            </a:fld>
            <a:endParaRPr lang="en-US"/>
          </a:p>
        </p:txBody>
      </p:sp>
    </p:spTree>
    <p:extLst>
      <p:ext uri="{BB962C8B-B14F-4D97-AF65-F5344CB8AC3E}">
        <p14:creationId xmlns:p14="http://schemas.microsoft.com/office/powerpoint/2010/main" val="2876933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Date/Time Input type</a:t>
            </a:r>
          </a:p>
        </p:txBody>
      </p:sp>
      <p:sp>
        <p:nvSpPr>
          <p:cNvPr id="3" name="Content Placeholder 2"/>
          <p:cNvSpPr>
            <a:spLocks noGrp="1"/>
          </p:cNvSpPr>
          <p:nvPr>
            <p:ph idx="1"/>
          </p:nvPr>
        </p:nvSpPr>
        <p:spPr/>
        <p:txBody>
          <a:bodyPr/>
          <a:lstStyle/>
          <a:p>
            <a:r>
              <a:rPr lang="en-US" dirty="0"/>
              <a:t>Date</a:t>
            </a:r>
          </a:p>
          <a:p>
            <a:r>
              <a:rPr lang="en-US" dirty="0"/>
              <a:t>Month</a:t>
            </a:r>
          </a:p>
          <a:p>
            <a:r>
              <a:rPr lang="en-US" dirty="0"/>
              <a:t>Week</a:t>
            </a:r>
          </a:p>
          <a:p>
            <a:r>
              <a:rPr lang="en-US" dirty="0"/>
              <a:t>Time</a:t>
            </a:r>
          </a:p>
          <a:p>
            <a:r>
              <a:rPr lang="en-US" dirty="0"/>
              <a:t>Date Time</a:t>
            </a:r>
          </a:p>
          <a:p>
            <a:r>
              <a:rPr lang="en-US" dirty="0"/>
              <a:t>Date Time-local</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57</a:t>
            </a:fld>
            <a:endParaRPr lang="en-US"/>
          </a:p>
        </p:txBody>
      </p:sp>
    </p:spTree>
    <p:extLst>
      <p:ext uri="{BB962C8B-B14F-4D97-AF65-F5344CB8AC3E}">
        <p14:creationId xmlns:p14="http://schemas.microsoft.com/office/powerpoint/2010/main" val="17085085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Methods</a:t>
            </a: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t>Form method will be used when we are working with</a:t>
            </a:r>
          </a:p>
          <a:p>
            <a:pPr algn="just">
              <a:lnSpc>
                <a:spcPct val="150000"/>
              </a:lnSpc>
            </a:pPr>
            <a:r>
              <a:rPr lang="en-US" dirty="0"/>
              <a:t>Interactive web pages</a:t>
            </a:r>
          </a:p>
          <a:p>
            <a:pPr algn="just">
              <a:lnSpc>
                <a:spcPct val="150000"/>
              </a:lnSpc>
            </a:pPr>
            <a:r>
              <a:rPr lang="en-US" dirty="0"/>
              <a:t>Client-server mechanism</a:t>
            </a:r>
          </a:p>
          <a:p>
            <a:pPr marL="0" indent="0" algn="just">
              <a:lnSpc>
                <a:spcPct val="150000"/>
              </a:lnSpc>
              <a:buNone/>
            </a:pPr>
            <a:r>
              <a:rPr lang="en-US" b="1" dirty="0"/>
              <a:t>Two methods </a:t>
            </a:r>
          </a:p>
          <a:p>
            <a:pPr lvl="1">
              <a:lnSpc>
                <a:spcPct val="150000"/>
              </a:lnSpc>
            </a:pPr>
            <a:r>
              <a:rPr lang="en-US" sz="2800" dirty="0">
                <a:effectLst>
                  <a:outerShdw blurRad="38100" dist="38100" dir="2700000" algn="tl">
                    <a:srgbClr val="000000">
                      <a:alpha val="43137"/>
                    </a:srgbClr>
                  </a:outerShdw>
                </a:effectLst>
              </a:rPr>
              <a:t>GET</a:t>
            </a:r>
          </a:p>
          <a:p>
            <a:pPr lvl="1">
              <a:lnSpc>
                <a:spcPct val="150000"/>
              </a:lnSpc>
            </a:pPr>
            <a:r>
              <a:rPr lang="en-US" sz="2800" dirty="0">
                <a:effectLst>
                  <a:outerShdw blurRad="38100" dist="38100" dir="2700000" algn="tl">
                    <a:srgbClr val="000000">
                      <a:alpha val="43137"/>
                    </a:srgbClr>
                  </a:outerShdw>
                </a:effectLst>
              </a:rPr>
              <a:t>POST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58</a:t>
            </a:fld>
            <a:endParaRPr lang="en-US"/>
          </a:p>
        </p:txBody>
      </p:sp>
    </p:spTree>
    <p:extLst>
      <p:ext uri="{BB962C8B-B14F-4D97-AF65-F5344CB8AC3E}">
        <p14:creationId xmlns:p14="http://schemas.microsoft.com/office/powerpoint/2010/main" val="40057403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Method</a:t>
            </a:r>
          </a:p>
        </p:txBody>
      </p:sp>
      <p:sp>
        <p:nvSpPr>
          <p:cNvPr id="3" name="Content Placeholder 2"/>
          <p:cNvSpPr>
            <a:spLocks noGrp="1"/>
          </p:cNvSpPr>
          <p:nvPr>
            <p:ph idx="1"/>
          </p:nvPr>
        </p:nvSpPr>
        <p:spPr/>
        <p:txBody>
          <a:bodyPr/>
          <a:lstStyle/>
          <a:p>
            <a:pPr algn="just">
              <a:lnSpc>
                <a:spcPct val="150000"/>
              </a:lnSpc>
            </a:pPr>
            <a:r>
              <a:rPr lang="en-US" dirty="0">
                <a:effectLst>
                  <a:outerShdw blurRad="38100" dist="38100" dir="2700000" algn="tl">
                    <a:srgbClr val="000000">
                      <a:alpha val="43137"/>
                    </a:srgbClr>
                  </a:outerShdw>
                </a:effectLst>
              </a:rPr>
              <a:t>GET</a:t>
            </a:r>
            <a:r>
              <a:rPr lang="en-US" dirty="0"/>
              <a:t> method will pass the values via </a:t>
            </a:r>
            <a:r>
              <a:rPr lang="en-US" dirty="0">
                <a:effectLst>
                  <a:outerShdw blurRad="38100" dist="38100" dir="2700000" algn="tl">
                    <a:srgbClr val="000000">
                      <a:alpha val="43137"/>
                    </a:srgbClr>
                  </a:outerShdw>
                </a:effectLst>
              </a:rPr>
              <a:t>URL</a:t>
            </a:r>
          </a:p>
          <a:p>
            <a:pPr algn="just">
              <a:lnSpc>
                <a:spcPct val="150000"/>
              </a:lnSpc>
            </a:pPr>
            <a:r>
              <a:rPr lang="en-US" dirty="0"/>
              <a:t>Passed values will be seen in the </a:t>
            </a:r>
            <a:r>
              <a:rPr lang="en-US" dirty="0">
                <a:effectLst>
                  <a:outerShdw blurRad="38100" dist="38100" dir="2700000" algn="tl">
                    <a:srgbClr val="000000">
                      <a:alpha val="43137"/>
                    </a:srgbClr>
                  </a:outerShdw>
                </a:effectLst>
              </a:rPr>
              <a:t>URL</a:t>
            </a:r>
          </a:p>
          <a:p>
            <a:pPr marL="0" indent="0" algn="just">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&lt;form action="form2.html“ method="get"&gt;</a:t>
            </a:r>
          </a:p>
          <a:p>
            <a:pPr algn="just">
              <a:lnSpc>
                <a:spcPct val="150000"/>
              </a:lnSpc>
            </a:pPr>
            <a:r>
              <a:rPr lang="en-US" dirty="0">
                <a:effectLst>
                  <a:outerShdw blurRad="38100" dist="38100" dir="2700000" algn="tl">
                    <a:srgbClr val="000000">
                      <a:alpha val="43137"/>
                    </a:srgbClr>
                  </a:outerShdw>
                </a:effectLst>
              </a:rPr>
              <a:t>action attribute </a:t>
            </a:r>
            <a:r>
              <a:rPr lang="en-US" dirty="0"/>
              <a:t>defines the place to which the values have to be passed</a:t>
            </a:r>
            <a:endParaRPr lang="en-US"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59</a:t>
            </a:fld>
            <a:endParaRPr lang="en-US"/>
          </a:p>
        </p:txBody>
      </p:sp>
    </p:spTree>
    <p:extLst>
      <p:ext uri="{BB962C8B-B14F-4D97-AF65-F5344CB8AC3E}">
        <p14:creationId xmlns:p14="http://schemas.microsoft.com/office/powerpoint/2010/main" val="9187564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POST Method</a:t>
            </a:r>
          </a:p>
        </p:txBody>
      </p:sp>
      <p:sp>
        <p:nvSpPr>
          <p:cNvPr id="3" name="Content Placeholder 2"/>
          <p:cNvSpPr>
            <a:spLocks noGrp="1"/>
          </p:cNvSpPr>
          <p:nvPr>
            <p:ph idx="1"/>
          </p:nvPr>
        </p:nvSpPr>
        <p:spPr/>
        <p:txBody>
          <a:bodyPr>
            <a:normAutofit lnSpcReduction="10000"/>
          </a:bodyPr>
          <a:lstStyle/>
          <a:p>
            <a:pPr>
              <a:lnSpc>
                <a:spcPct val="150000"/>
              </a:lnSpc>
            </a:pPr>
            <a:r>
              <a:rPr lang="en-US" dirty="0">
                <a:effectLst>
                  <a:outerShdw blurRad="38100" dist="38100" dir="2700000" algn="tl">
                    <a:srgbClr val="000000">
                      <a:alpha val="43137"/>
                    </a:srgbClr>
                  </a:outerShdw>
                </a:effectLst>
              </a:rPr>
              <a:t>POST</a:t>
            </a:r>
            <a:r>
              <a:rPr lang="en-US" dirty="0"/>
              <a:t> method will pass the values via </a:t>
            </a:r>
            <a:r>
              <a:rPr lang="en-US" dirty="0">
                <a:effectLst>
                  <a:outerShdw blurRad="38100" dist="38100" dir="2700000" algn="tl">
                    <a:srgbClr val="000000">
                      <a:alpha val="43137"/>
                    </a:srgbClr>
                  </a:outerShdw>
                </a:effectLst>
              </a:rPr>
              <a:t>HTTP</a:t>
            </a:r>
            <a:r>
              <a:rPr lang="en-US" dirty="0"/>
              <a:t> request</a:t>
            </a:r>
          </a:p>
          <a:p>
            <a:pPr>
              <a:lnSpc>
                <a:spcPct val="150000"/>
              </a:lnSpc>
            </a:pPr>
            <a:r>
              <a:rPr lang="en-US" dirty="0"/>
              <a:t>Passed values will not be seen in the </a:t>
            </a:r>
            <a:r>
              <a:rPr lang="en-US" dirty="0">
                <a:effectLst>
                  <a:outerShdw blurRad="38100" dist="38100" dir="2700000" algn="tl">
                    <a:srgbClr val="000000">
                      <a:alpha val="43137"/>
                    </a:srgbClr>
                  </a:outerShdw>
                </a:effectLst>
              </a:rPr>
              <a:t>URL</a:t>
            </a:r>
          </a:p>
          <a:p>
            <a:pPr>
              <a:lnSpc>
                <a:spcPct val="150000"/>
              </a:lnSpc>
            </a:pPr>
            <a:r>
              <a:rPr lang="en-US" dirty="0"/>
              <a:t>It is advisable to use </a:t>
            </a:r>
            <a:r>
              <a:rPr lang="en-US" dirty="0">
                <a:effectLst>
                  <a:outerShdw blurRad="38100" dist="38100" dir="2700000" algn="tl">
                    <a:srgbClr val="000000">
                      <a:alpha val="43137"/>
                    </a:srgbClr>
                  </a:outerShdw>
                </a:effectLst>
              </a:rPr>
              <a:t>POST</a:t>
            </a:r>
            <a:r>
              <a:rPr lang="en-US" dirty="0"/>
              <a:t> method for secure transactions like login and money transactions</a:t>
            </a:r>
          </a:p>
          <a:p>
            <a:pPr marL="0" indent="0">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&lt;form action="form2.html“ method="post"&gt;</a:t>
            </a:r>
          </a:p>
          <a:p>
            <a:r>
              <a:rPr lang="en-US" dirty="0">
                <a:effectLst>
                  <a:outerShdw blurRad="38100" dist="38100" dir="2700000" algn="tl">
                    <a:srgbClr val="000000">
                      <a:alpha val="43137"/>
                    </a:srgbClr>
                  </a:outerShdw>
                </a:effectLst>
              </a:rPr>
              <a:t>action attribute </a:t>
            </a:r>
            <a:r>
              <a:rPr lang="en-US" dirty="0"/>
              <a:t>denes the place to which the values have to be passed</a:t>
            </a:r>
            <a:endParaRPr lang="en-US" dirty="0">
              <a:solidFill>
                <a:srgbClr val="FF0000"/>
              </a:solidFill>
              <a:effectLst>
                <a:outerShdw blurRad="38100" dist="38100" dir="2700000" algn="tl">
                  <a:srgbClr val="000000">
                    <a:alpha val="43137"/>
                  </a:srgbClr>
                </a:outerShdw>
              </a:effectLst>
            </a:endParaRPr>
          </a:p>
          <a:p>
            <a:pPr>
              <a:lnSpc>
                <a:spcPct val="150000"/>
              </a:lnSpc>
            </a:pPr>
            <a:endParaRPr lang="en-US" dirty="0">
              <a:solidFill>
                <a:srgbClr val="FF0000"/>
              </a:solidFill>
            </a:endParaRP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60</a:t>
            </a:fld>
            <a:endParaRPr lang="en-US"/>
          </a:p>
        </p:txBody>
      </p:sp>
    </p:spTree>
    <p:extLst>
      <p:ext uri="{BB962C8B-B14F-4D97-AF65-F5344CB8AC3E}">
        <p14:creationId xmlns:p14="http://schemas.microsoft.com/office/powerpoint/2010/main" val="31780579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HTML Canvas</a:t>
            </a:r>
          </a:p>
        </p:txBody>
      </p:sp>
      <p:sp>
        <p:nvSpPr>
          <p:cNvPr id="3" name="Content Placeholder 2"/>
          <p:cNvSpPr>
            <a:spLocks noGrp="1"/>
          </p:cNvSpPr>
          <p:nvPr>
            <p:ph idx="1"/>
          </p:nvPr>
        </p:nvSpPr>
        <p:spPr>
          <a:xfrm>
            <a:off x="838200" y="1329679"/>
            <a:ext cx="6306519" cy="4351338"/>
          </a:xfrm>
        </p:spPr>
        <p:txBody>
          <a:bodyPr>
            <a:normAutofit/>
          </a:bodyPr>
          <a:lstStyle/>
          <a:p>
            <a:pPr algn="just"/>
            <a:r>
              <a:rPr lang="en-US" dirty="0"/>
              <a:t>HTML5 element </a:t>
            </a:r>
            <a:r>
              <a:rPr lang="en-US" dirty="0">
                <a:solidFill>
                  <a:srgbClr val="FF0000"/>
                </a:solidFill>
                <a:effectLst>
                  <a:outerShdw blurRad="38100" dist="38100" dir="2700000" algn="tl">
                    <a:srgbClr val="000000">
                      <a:alpha val="43137"/>
                    </a:srgbClr>
                  </a:outerShdw>
                </a:effectLst>
              </a:rPr>
              <a:t>&lt;canvas&gt; </a:t>
            </a:r>
            <a:r>
              <a:rPr lang="en-US" dirty="0"/>
              <a:t>gives you an easy and powerful way to draw graphics using JavaScript. It can be used to draw graphs, make photo compositions or do simple (and not so simple) animations.</a:t>
            </a:r>
          </a:p>
          <a:p>
            <a:pPr algn="just"/>
            <a:r>
              <a:rPr lang="en-US" dirty="0"/>
              <a:t>Here is a simple &lt;canvas&gt; element which has only two specific attributes </a:t>
            </a:r>
            <a:r>
              <a:rPr lang="en-US" b="1" dirty="0"/>
              <a:t>width </a:t>
            </a:r>
            <a:r>
              <a:rPr lang="en-US" dirty="0"/>
              <a:t>and </a:t>
            </a:r>
            <a:r>
              <a:rPr lang="en-US" b="1" dirty="0"/>
              <a:t>height </a:t>
            </a:r>
            <a:r>
              <a:rPr lang="en-US" dirty="0"/>
              <a:t>plus all the core HTML5 attributes like id, name and class, etc.</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61</a:t>
            </a:fld>
            <a:endParaRPr lang="en-US"/>
          </a:p>
        </p:txBody>
      </p:sp>
      <p:pic>
        <p:nvPicPr>
          <p:cNvPr id="8" name="Picture 7"/>
          <p:cNvPicPr>
            <a:picLocks noChangeAspect="1"/>
          </p:cNvPicPr>
          <p:nvPr/>
        </p:nvPicPr>
        <p:blipFill>
          <a:blip r:embed="rId2"/>
          <a:stretch>
            <a:fillRect/>
          </a:stretch>
        </p:blipFill>
        <p:spPr>
          <a:xfrm>
            <a:off x="7529775" y="1932814"/>
            <a:ext cx="4313332" cy="3516926"/>
          </a:xfrm>
          <a:prstGeom prst="rect">
            <a:avLst/>
          </a:prstGeom>
        </p:spPr>
      </p:pic>
      <p:sp>
        <p:nvSpPr>
          <p:cNvPr id="9" name="Rectangle 8"/>
          <p:cNvSpPr/>
          <p:nvPr/>
        </p:nvSpPr>
        <p:spPr>
          <a:xfrm>
            <a:off x="1101092" y="5618573"/>
            <a:ext cx="9170074" cy="523220"/>
          </a:xfrm>
          <a:prstGeom prst="rect">
            <a:avLst/>
          </a:prstGeom>
        </p:spPr>
        <p:txBody>
          <a:bodyPr wrap="none">
            <a:spAutoFit/>
          </a:bodyPr>
          <a:lstStyle/>
          <a:p>
            <a:pPr algn="just"/>
            <a:r>
              <a:rPr lang="en-US" sz="2800" dirty="0">
                <a:solidFill>
                  <a:srgbClr val="FF0000"/>
                </a:solidFill>
                <a:effectLst>
                  <a:outerShdw blurRad="38100" dist="38100" dir="2700000" algn="tl">
                    <a:srgbClr val="000000">
                      <a:alpha val="43137"/>
                    </a:srgbClr>
                  </a:outerShdw>
                </a:effectLst>
              </a:rPr>
              <a:t>&lt;canvas id="</a:t>
            </a:r>
            <a:r>
              <a:rPr lang="en-US" sz="2800" dirty="0" err="1">
                <a:solidFill>
                  <a:srgbClr val="0066FF"/>
                </a:solidFill>
                <a:effectLst>
                  <a:outerShdw blurRad="38100" dist="38100" dir="2700000" algn="tl">
                    <a:srgbClr val="000000">
                      <a:alpha val="43137"/>
                    </a:srgbClr>
                  </a:outerShdw>
                </a:effectLst>
              </a:rPr>
              <a:t>mycanvas</a:t>
            </a:r>
            <a:r>
              <a:rPr lang="en-US" sz="2800" dirty="0">
                <a:solidFill>
                  <a:srgbClr val="FF0000"/>
                </a:solidFill>
                <a:effectLst>
                  <a:outerShdw blurRad="38100" dist="38100" dir="2700000" algn="tl">
                    <a:srgbClr val="000000">
                      <a:alpha val="43137"/>
                    </a:srgbClr>
                  </a:outerShdw>
                </a:effectLst>
              </a:rPr>
              <a:t>" width="100" height="100"&gt;&lt;/canvas&gt;</a:t>
            </a:r>
          </a:p>
        </p:txBody>
      </p:sp>
    </p:spTree>
    <p:extLst>
      <p:ext uri="{BB962C8B-B14F-4D97-AF65-F5344CB8AC3E}">
        <p14:creationId xmlns:p14="http://schemas.microsoft.com/office/powerpoint/2010/main" val="1993036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Rendering Context</a:t>
            </a:r>
          </a:p>
        </p:txBody>
      </p:sp>
      <p:sp>
        <p:nvSpPr>
          <p:cNvPr id="3" name="Content Placeholder 2"/>
          <p:cNvSpPr>
            <a:spLocks noGrp="1"/>
          </p:cNvSpPr>
          <p:nvPr>
            <p:ph idx="1"/>
          </p:nvPr>
        </p:nvSpPr>
        <p:spPr/>
        <p:txBody>
          <a:bodyPr>
            <a:normAutofit fontScale="92500" lnSpcReduction="10000"/>
          </a:bodyPr>
          <a:lstStyle/>
          <a:p>
            <a:pPr>
              <a:lnSpc>
                <a:spcPct val="150000"/>
              </a:lnSpc>
            </a:pPr>
            <a:r>
              <a:rPr lang="en-US" dirty="0"/>
              <a:t>The </a:t>
            </a:r>
            <a:r>
              <a:rPr lang="en-US" dirty="0">
                <a:effectLst>
                  <a:outerShdw blurRad="38100" dist="38100" dir="2700000" algn="tl">
                    <a:srgbClr val="000000">
                      <a:alpha val="43137"/>
                    </a:srgbClr>
                  </a:outerShdw>
                </a:effectLst>
              </a:rPr>
              <a:t>&lt;canvas&gt; </a:t>
            </a:r>
            <a:r>
              <a:rPr lang="en-US" dirty="0"/>
              <a:t>is initially blank, and to display something, a script first needs to access the rendering context and draw on it.</a:t>
            </a:r>
          </a:p>
          <a:p>
            <a:pPr>
              <a:lnSpc>
                <a:spcPct val="150000"/>
              </a:lnSpc>
            </a:pPr>
            <a:r>
              <a:rPr lang="en-US" dirty="0"/>
              <a:t>The canvas element has a DOM method called </a:t>
            </a:r>
            <a:r>
              <a:rPr lang="en-US" b="1" dirty="0" err="1"/>
              <a:t>getContext</a:t>
            </a:r>
            <a:r>
              <a:rPr lang="en-US" dirty="0"/>
              <a:t>, used to obtain the rendering context and its drawing functions. This function takes one parameter, the type of context </a:t>
            </a:r>
            <a:r>
              <a:rPr lang="en-US" b="1" dirty="0"/>
              <a:t>2d</a:t>
            </a:r>
            <a:r>
              <a:rPr lang="en-US" dirty="0"/>
              <a:t>.</a:t>
            </a:r>
          </a:p>
          <a:p>
            <a:pPr>
              <a:lnSpc>
                <a:spcPct val="150000"/>
              </a:lnSpc>
            </a:pPr>
            <a:r>
              <a:rPr lang="en-US" dirty="0"/>
              <a:t>After creating the rectangular canvas area, you must add a Script to do the drawing. </a:t>
            </a:r>
          </a:p>
          <a:p>
            <a:pPr>
              <a:lnSpc>
                <a:spcPct val="150000"/>
              </a:lnSpc>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62</a:t>
            </a:fld>
            <a:endParaRPr lang="en-US"/>
          </a:p>
        </p:txBody>
      </p:sp>
    </p:spTree>
    <p:extLst>
      <p:ext uri="{BB962C8B-B14F-4D97-AF65-F5344CB8AC3E}">
        <p14:creationId xmlns:p14="http://schemas.microsoft.com/office/powerpoint/2010/main" val="21738195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Draw a line</a:t>
            </a:r>
          </a:p>
        </p:txBody>
      </p:sp>
      <p:sp>
        <p:nvSpPr>
          <p:cNvPr id="3" name="Content Placeholder 2"/>
          <p:cNvSpPr>
            <a:spLocks noGrp="1"/>
          </p:cNvSpPr>
          <p:nvPr>
            <p:ph idx="1"/>
          </p:nvPr>
        </p:nvSpPr>
        <p:spPr>
          <a:xfrm>
            <a:off x="838200" y="1376174"/>
            <a:ext cx="10515600" cy="4980176"/>
          </a:xfrm>
        </p:spPr>
        <p:txBody>
          <a:bodyPr>
            <a:noAutofit/>
          </a:bodyPr>
          <a:lstStyle/>
          <a:p>
            <a:pPr marL="0" indent="0">
              <a:buNone/>
            </a:pPr>
            <a:r>
              <a:rPr lang="en-US" sz="2200" dirty="0"/>
              <a:t>&lt;!DOCTYPE html&gt;</a:t>
            </a:r>
          </a:p>
          <a:p>
            <a:pPr marL="0" indent="0">
              <a:buNone/>
            </a:pPr>
            <a:r>
              <a:rPr lang="en-US" sz="2200" dirty="0"/>
              <a:t>&lt;html&gt; &lt;body&gt;</a:t>
            </a:r>
          </a:p>
          <a:p>
            <a:pPr marL="0" indent="0">
              <a:buNone/>
            </a:pPr>
            <a:r>
              <a:rPr lang="en-US" sz="2200" dirty="0">
                <a:effectLst>
                  <a:outerShdw blurRad="38100" dist="38100" dir="2700000" algn="tl">
                    <a:srgbClr val="000000">
                      <a:alpha val="43137"/>
                    </a:srgbClr>
                  </a:outerShdw>
                </a:effectLst>
              </a:rPr>
              <a:t>&lt;canvas id="</a:t>
            </a:r>
            <a:r>
              <a:rPr lang="en-US" sz="2200" dirty="0" err="1">
                <a:solidFill>
                  <a:srgbClr val="0066FF"/>
                </a:solidFill>
                <a:effectLst>
                  <a:outerShdw blurRad="38100" dist="38100" dir="2700000" algn="tl">
                    <a:srgbClr val="000000">
                      <a:alpha val="43137"/>
                    </a:srgbClr>
                  </a:outerShdw>
                </a:effectLst>
              </a:rPr>
              <a:t>myCanvas</a:t>
            </a:r>
            <a:r>
              <a:rPr lang="en-US" sz="2200" dirty="0">
                <a:effectLst>
                  <a:outerShdw blurRad="38100" dist="38100" dir="2700000" algn="tl">
                    <a:srgbClr val="000000">
                      <a:alpha val="43137"/>
                    </a:srgbClr>
                  </a:outerShdw>
                </a:effectLst>
              </a:rPr>
              <a:t>" width="200" height="100" style="border:1px solid #d3d3d3;"&gt;</a:t>
            </a:r>
          </a:p>
          <a:p>
            <a:pPr marL="0" indent="0">
              <a:buNone/>
            </a:pPr>
            <a:r>
              <a:rPr lang="en-US" sz="2200" dirty="0"/>
              <a:t>Your browser does not support the HTML canvas tag.&lt;/canvas&gt;</a:t>
            </a:r>
          </a:p>
          <a:p>
            <a:pPr marL="0" indent="0">
              <a:buNone/>
            </a:pPr>
            <a:r>
              <a:rPr lang="en-US" sz="2200" dirty="0">
                <a:effectLst>
                  <a:outerShdw blurRad="38100" dist="38100" dir="2700000" algn="tl">
                    <a:srgbClr val="000000">
                      <a:alpha val="43137"/>
                    </a:srgbClr>
                  </a:outerShdw>
                </a:effectLst>
              </a:rPr>
              <a:t>&lt;script&gt;</a:t>
            </a:r>
          </a:p>
          <a:p>
            <a:pPr marL="0" indent="0">
              <a:buNone/>
            </a:pPr>
            <a:r>
              <a:rPr lang="en-US" sz="2200" dirty="0"/>
              <a:t>  </a:t>
            </a:r>
            <a:r>
              <a:rPr lang="en-US" sz="2200" dirty="0" err="1"/>
              <a:t>var</a:t>
            </a:r>
            <a:r>
              <a:rPr lang="en-US" sz="2200" dirty="0"/>
              <a:t> c = </a:t>
            </a:r>
            <a:r>
              <a:rPr lang="en-US" sz="2200" dirty="0" err="1"/>
              <a:t>document.</a:t>
            </a:r>
            <a:r>
              <a:rPr lang="en-US" sz="2200" dirty="0" err="1">
                <a:solidFill>
                  <a:srgbClr val="FF0000"/>
                </a:solidFill>
                <a:effectLst>
                  <a:outerShdw blurRad="38100" dist="38100" dir="2700000" algn="tl">
                    <a:srgbClr val="000000">
                      <a:alpha val="43137"/>
                    </a:srgbClr>
                  </a:outerShdw>
                </a:effectLst>
              </a:rPr>
              <a:t>getElementById</a:t>
            </a:r>
            <a:r>
              <a:rPr lang="en-US" sz="2200" dirty="0"/>
              <a:t>("</a:t>
            </a:r>
            <a:r>
              <a:rPr lang="en-US" sz="2200" dirty="0" err="1">
                <a:solidFill>
                  <a:srgbClr val="0066FF"/>
                </a:solidFill>
                <a:effectLst>
                  <a:outerShdw blurRad="38100" dist="38100" dir="2700000" algn="tl">
                    <a:srgbClr val="000000">
                      <a:alpha val="43137"/>
                    </a:srgbClr>
                  </a:outerShdw>
                </a:effectLst>
              </a:rPr>
              <a:t>myCanvas</a:t>
            </a:r>
            <a:r>
              <a:rPr lang="en-US" sz="2200" dirty="0"/>
              <a:t>");</a:t>
            </a:r>
          </a:p>
          <a:p>
            <a:pPr marL="0" indent="0">
              <a:buNone/>
            </a:pPr>
            <a:r>
              <a:rPr lang="en-US" sz="2200" dirty="0"/>
              <a:t>  </a:t>
            </a:r>
            <a:r>
              <a:rPr lang="en-US" sz="2200" dirty="0" err="1"/>
              <a:t>var</a:t>
            </a:r>
            <a:r>
              <a:rPr lang="en-US" sz="2200" dirty="0"/>
              <a:t> </a:t>
            </a:r>
            <a:r>
              <a:rPr lang="en-US" sz="2200" dirty="0" err="1"/>
              <a:t>ctx</a:t>
            </a:r>
            <a:r>
              <a:rPr lang="en-US" sz="2200" dirty="0"/>
              <a:t> = </a:t>
            </a:r>
            <a:r>
              <a:rPr lang="en-US" sz="2200" dirty="0" err="1"/>
              <a:t>c.</a:t>
            </a:r>
            <a:r>
              <a:rPr lang="en-US" sz="2200" dirty="0" err="1">
                <a:solidFill>
                  <a:srgbClr val="FF0000"/>
                </a:solidFill>
                <a:effectLst>
                  <a:outerShdw blurRad="38100" dist="38100" dir="2700000" algn="tl">
                    <a:srgbClr val="000000">
                      <a:alpha val="43137"/>
                    </a:srgbClr>
                  </a:outerShdw>
                </a:effectLst>
              </a:rPr>
              <a:t>getContext</a:t>
            </a:r>
            <a:r>
              <a:rPr lang="en-US" sz="2200" dirty="0"/>
              <a:t>("2d");</a:t>
            </a:r>
          </a:p>
          <a:p>
            <a:pPr marL="0" indent="0">
              <a:buNone/>
            </a:pPr>
            <a:r>
              <a:rPr lang="en-US" sz="2200" dirty="0"/>
              <a:t>  </a:t>
            </a:r>
            <a:r>
              <a:rPr lang="en-US" sz="2200" dirty="0" err="1"/>
              <a:t>ctx.moveTo</a:t>
            </a:r>
            <a:r>
              <a:rPr lang="en-US" sz="2200" dirty="0"/>
              <a:t>(0,0);</a:t>
            </a:r>
          </a:p>
          <a:p>
            <a:pPr marL="0" indent="0">
              <a:buNone/>
            </a:pPr>
            <a:r>
              <a:rPr lang="en-US" sz="2200" dirty="0"/>
              <a:t>  </a:t>
            </a:r>
            <a:r>
              <a:rPr lang="en-US" sz="2200" dirty="0" err="1"/>
              <a:t>ctx.lineTo</a:t>
            </a:r>
            <a:r>
              <a:rPr lang="en-US" sz="2200" dirty="0"/>
              <a:t>(200,100);</a:t>
            </a:r>
          </a:p>
          <a:p>
            <a:pPr marL="0" indent="0">
              <a:buNone/>
            </a:pPr>
            <a:r>
              <a:rPr lang="en-US" sz="2200" dirty="0"/>
              <a:t>  </a:t>
            </a:r>
            <a:r>
              <a:rPr lang="en-US" sz="2200" dirty="0" err="1"/>
              <a:t>ctx.stroke</a:t>
            </a:r>
            <a:r>
              <a:rPr lang="en-US" sz="2200" dirty="0"/>
              <a:t>();</a:t>
            </a:r>
          </a:p>
          <a:p>
            <a:pPr marL="0" indent="0">
              <a:buNone/>
            </a:pPr>
            <a:r>
              <a:rPr lang="en-US" sz="2200" dirty="0">
                <a:effectLst>
                  <a:outerShdw blurRad="38100" dist="38100" dir="2700000" algn="tl">
                    <a:srgbClr val="000000">
                      <a:alpha val="43137"/>
                    </a:srgbClr>
                  </a:outerShdw>
                </a:effectLst>
              </a:rPr>
              <a:t>&lt;/script&gt;</a:t>
            </a:r>
          </a:p>
          <a:p>
            <a:pPr marL="0" indent="0">
              <a:buNone/>
            </a:pPr>
            <a:r>
              <a:rPr lang="en-US" sz="2200" dirty="0"/>
              <a:t>&lt;/body&gt; &lt;/html&gt;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63</a:t>
            </a:fld>
            <a:endParaRPr lang="en-US"/>
          </a:p>
        </p:txBody>
      </p:sp>
      <p:pic>
        <p:nvPicPr>
          <p:cNvPr id="7" name="Picture 6"/>
          <p:cNvPicPr>
            <a:picLocks noChangeAspect="1"/>
          </p:cNvPicPr>
          <p:nvPr/>
        </p:nvPicPr>
        <p:blipFill>
          <a:blip r:embed="rId2"/>
          <a:stretch>
            <a:fillRect/>
          </a:stretch>
        </p:blipFill>
        <p:spPr>
          <a:xfrm>
            <a:off x="6882216" y="3985351"/>
            <a:ext cx="4781550" cy="2228850"/>
          </a:xfrm>
          <a:prstGeom prst="rect">
            <a:avLst/>
          </a:prstGeom>
        </p:spPr>
      </p:pic>
    </p:spTree>
    <p:extLst>
      <p:ext uri="{BB962C8B-B14F-4D97-AF65-F5344CB8AC3E}">
        <p14:creationId xmlns:p14="http://schemas.microsoft.com/office/powerpoint/2010/main" val="3862628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What to do now …</a:t>
            </a:r>
          </a:p>
        </p:txBody>
      </p:sp>
      <p:sp>
        <p:nvSpPr>
          <p:cNvPr id="3" name="Content Placeholder 2"/>
          <p:cNvSpPr>
            <a:spLocks noGrp="1"/>
          </p:cNvSpPr>
          <p:nvPr>
            <p:ph idx="1"/>
          </p:nvPr>
        </p:nvSpPr>
        <p:spPr/>
        <p:txBody>
          <a:bodyPr/>
          <a:lstStyle/>
          <a:p>
            <a:r>
              <a:rPr lang="en-US" dirty="0"/>
              <a:t>https://www.w3schools.com/</a:t>
            </a:r>
          </a:p>
          <a:p>
            <a:r>
              <a:rPr lang="en-US" dirty="0"/>
              <a:t>https://www.tutorialspoint.com/html5/</a:t>
            </a:r>
          </a:p>
          <a:p>
            <a:r>
              <a:rPr lang="en-US" dirty="0"/>
              <a:t>…</a:t>
            </a:r>
          </a:p>
          <a:p>
            <a:r>
              <a:rPr lang="en-US" dirty="0"/>
              <a:t>…</a:t>
            </a:r>
          </a:p>
          <a:p>
            <a:r>
              <a:rPr lang="en-US" dirty="0"/>
              <a:t>…</a:t>
            </a:r>
          </a:p>
          <a:p>
            <a:r>
              <a:rPr lang="en-US" dirty="0"/>
              <a:t>…</a:t>
            </a:r>
          </a:p>
        </p:txBody>
      </p:sp>
      <p:sp>
        <p:nvSpPr>
          <p:cNvPr id="4" name="Date Placeholder 3"/>
          <p:cNvSpPr>
            <a:spLocks noGrp="1"/>
          </p:cNvSpPr>
          <p:nvPr>
            <p:ph type="dt" sz="half" idx="10"/>
          </p:nvPr>
        </p:nvSpPr>
        <p:spPr/>
        <p:txBody>
          <a:bodyPr/>
          <a:lstStyle/>
          <a:p>
            <a:fld id="{3815F562-1381-4562-B199-E571684E83DC}" type="datetime1">
              <a:rPr lang="en-US" smtClean="0"/>
              <a:t>1/5/2026</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64</a:t>
            </a:fld>
            <a:endParaRPr lang="en-US"/>
          </a:p>
        </p:txBody>
      </p:sp>
    </p:spTree>
    <p:extLst>
      <p:ext uri="{BB962C8B-B14F-4D97-AF65-F5344CB8AC3E}">
        <p14:creationId xmlns:p14="http://schemas.microsoft.com/office/powerpoint/2010/main" val="5831720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2986006" y="2587278"/>
            <a:ext cx="6095999" cy="2288447"/>
          </a:xfrm>
          <a:prstGeom prst="rect">
            <a:avLst/>
          </a:prstGeom>
        </p:spPr>
        <p:txBody>
          <a:bodyPr vert="horz" wrap="square" lIns="0" tIns="71755" rIns="0" bIns="0" rtlCol="0">
            <a:spAutoFit/>
          </a:bodyPr>
          <a:lstStyle/>
          <a:p>
            <a:pPr algn="ctr"/>
            <a:r>
              <a:rPr lang="en-US" sz="7200" b="1" spc="20" dirty="0">
                <a:solidFill>
                  <a:srgbClr val="E44D26"/>
                </a:solidFill>
                <a:effectLst>
                  <a:outerShdw blurRad="38100" dist="38100" dir="2700000" algn="tl">
                    <a:srgbClr val="000000">
                      <a:alpha val="43137"/>
                    </a:srgbClr>
                  </a:outerShdw>
                </a:effectLst>
                <a:latin typeface="LM Sans 12"/>
                <a:cs typeface="LM Sans 12"/>
              </a:rPr>
              <a:t>Thank </a:t>
            </a:r>
          </a:p>
          <a:p>
            <a:pPr algn="ctr"/>
            <a:r>
              <a:rPr lang="en-US" sz="7200" b="1" spc="20" dirty="0">
                <a:solidFill>
                  <a:srgbClr val="E44D26"/>
                </a:solidFill>
                <a:effectLst>
                  <a:outerShdw blurRad="38100" dist="38100" dir="2700000" algn="tl">
                    <a:srgbClr val="000000">
                      <a:alpha val="43137"/>
                    </a:srgbClr>
                  </a:outerShdw>
                </a:effectLst>
                <a:latin typeface="LM Sans 12"/>
                <a:cs typeface="LM Sans 12"/>
              </a:rPr>
              <a:t>you </a:t>
            </a:r>
            <a:r>
              <a:rPr lang="en-US" sz="7200" b="1" spc="20" dirty="0">
                <a:solidFill>
                  <a:srgbClr val="E44D2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7200" b="1" dirty="0">
              <a:solidFill>
                <a:srgbClr val="E44D26"/>
              </a:solidFill>
              <a:effectLst>
                <a:outerShdw blurRad="38100" dist="38100" dir="2700000" algn="tl">
                  <a:srgbClr val="000000">
                    <a:alpha val="43137"/>
                  </a:srgbClr>
                </a:outerShdw>
              </a:effectLst>
              <a:latin typeface="LM Sans 10"/>
              <a:cs typeface="LM Sans 10"/>
            </a:endParaRPr>
          </a:p>
        </p:txBody>
      </p:sp>
    </p:spTree>
    <p:extLst>
      <p:ext uri="{BB962C8B-B14F-4D97-AF65-F5344CB8AC3E}">
        <p14:creationId xmlns:p14="http://schemas.microsoft.com/office/powerpoint/2010/main" val="1321883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2510</TotalTime>
  <Words>4218</Words>
  <Application>Microsoft Office PowerPoint</Application>
  <PresentationFormat>Widescreen</PresentationFormat>
  <Paragraphs>667</Paragraphs>
  <Slides>65</Slides>
  <Notes>1</Notes>
  <HiddenSlides>1</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Office Theme</vt:lpstr>
      <vt:lpstr>PowerPoint Presentation</vt:lpstr>
      <vt:lpstr>HTML5 − Overview</vt:lpstr>
      <vt:lpstr>New Features</vt:lpstr>
      <vt:lpstr>Backward Compatibility</vt:lpstr>
      <vt:lpstr>HTML Syntax</vt:lpstr>
      <vt:lpstr>HTML Syntax</vt:lpstr>
      <vt:lpstr>HTML Syntax</vt:lpstr>
      <vt:lpstr>HTML Syntax</vt:lpstr>
      <vt:lpstr>HTML5 Elements</vt:lpstr>
      <vt:lpstr>HTML5 Attributes</vt:lpstr>
      <vt:lpstr>HTML5 Document</vt:lpstr>
      <vt:lpstr>HTML5 Document</vt:lpstr>
      <vt:lpstr>Web Forms 2.0</vt:lpstr>
      <vt:lpstr>HTML5 − Canvas</vt:lpstr>
      <vt:lpstr>Topics  </vt:lpstr>
      <vt:lpstr>First HTML program</vt:lpstr>
      <vt:lpstr>Element, Tags and Attributes</vt:lpstr>
      <vt:lpstr>Element, Tags and Attributes</vt:lpstr>
      <vt:lpstr>Some Common Attributes</vt:lpstr>
      <vt:lpstr>Formatting Tags</vt:lpstr>
      <vt:lpstr>HTML Headings</vt:lpstr>
      <vt:lpstr>Break Tags</vt:lpstr>
      <vt:lpstr>Anchor Tag</vt:lpstr>
      <vt:lpstr>Anchor Tag</vt:lpstr>
      <vt:lpstr>Anchor Tag - target</vt:lpstr>
      <vt:lpstr>Styles</vt:lpstr>
      <vt:lpstr>Style Attribute</vt:lpstr>
      <vt:lpstr>Style Tag</vt:lpstr>
      <vt:lpstr>Common Style Properties</vt:lpstr>
      <vt:lpstr>CSS</vt:lpstr>
      <vt:lpstr>Lists</vt:lpstr>
      <vt:lpstr>UL Style Types</vt:lpstr>
      <vt:lpstr>OL Types</vt:lpstr>
      <vt:lpstr>Description List</vt:lpstr>
      <vt:lpstr>Description List</vt:lpstr>
      <vt:lpstr>Nested List</vt:lpstr>
      <vt:lpstr>Tables</vt:lpstr>
      <vt:lpstr>Table Attributes</vt:lpstr>
      <vt:lpstr>Comments</vt:lpstr>
      <vt:lpstr>HTML Entities</vt:lpstr>
      <vt:lpstr>Embedding Images</vt:lpstr>
      <vt:lpstr>Embedding Images</vt:lpstr>
      <vt:lpstr>Image Attributes</vt:lpstr>
      <vt:lpstr>Image Maps</vt:lpstr>
      <vt:lpstr>Embedding Media</vt:lpstr>
      <vt:lpstr>Common Media Attributes</vt:lpstr>
      <vt:lpstr>HTML Elements</vt:lpstr>
      <vt:lpstr>Block Level Elements</vt:lpstr>
      <vt:lpstr>Inline Elements</vt:lpstr>
      <vt:lpstr>div tag</vt:lpstr>
      <vt:lpstr>span tags</vt:lpstr>
      <vt:lpstr>HTML5 Layouts</vt:lpstr>
      <vt:lpstr>Web Forms</vt:lpstr>
      <vt:lpstr>Form Elements</vt:lpstr>
      <vt:lpstr>Input Types</vt:lpstr>
      <vt:lpstr>Button Element</vt:lpstr>
      <vt:lpstr>Date/Time Input type</vt:lpstr>
      <vt:lpstr>Form Methods</vt:lpstr>
      <vt:lpstr>GET Method</vt:lpstr>
      <vt:lpstr>POST Method</vt:lpstr>
      <vt:lpstr>HTML Canvas</vt:lpstr>
      <vt:lpstr>Rendering Context</vt:lpstr>
      <vt:lpstr>Draw a line</vt:lpstr>
      <vt:lpstr>What to do now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Gopakumar</dc:creator>
  <cp:lastModifiedBy>Rachit Takate</cp:lastModifiedBy>
  <cp:revision>86</cp:revision>
  <dcterms:created xsi:type="dcterms:W3CDTF">2021-12-03T04:19:44Z</dcterms:created>
  <dcterms:modified xsi:type="dcterms:W3CDTF">2026-01-05T08:47:01Z</dcterms:modified>
</cp:coreProperties>
</file>